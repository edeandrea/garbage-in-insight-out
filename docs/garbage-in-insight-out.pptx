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40"/>
  </p:notesMasterIdLst>
  <p:sldIdLst>
    <p:sldId id="260" r:id="rId2"/>
    <p:sldId id="261" r:id="rId3"/>
    <p:sldId id="256" r:id="rId4"/>
    <p:sldId id="286" r:id="rId5"/>
    <p:sldId id="257" r:id="rId6"/>
    <p:sldId id="268" r:id="rId7"/>
    <p:sldId id="258" r:id="rId8"/>
    <p:sldId id="259" r:id="rId9"/>
    <p:sldId id="262" r:id="rId10"/>
    <p:sldId id="265" r:id="rId11"/>
    <p:sldId id="263" r:id="rId12"/>
    <p:sldId id="264" r:id="rId13"/>
    <p:sldId id="267" r:id="rId14"/>
    <p:sldId id="266" r:id="rId15"/>
    <p:sldId id="269" r:id="rId16"/>
    <p:sldId id="271" r:id="rId17"/>
    <p:sldId id="292" r:id="rId18"/>
    <p:sldId id="270" r:id="rId19"/>
    <p:sldId id="272" r:id="rId20"/>
    <p:sldId id="274" r:id="rId21"/>
    <p:sldId id="288" r:id="rId22"/>
    <p:sldId id="293" r:id="rId23"/>
    <p:sldId id="273" r:id="rId24"/>
    <p:sldId id="275" r:id="rId25"/>
    <p:sldId id="287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9" r:id="rId37"/>
    <p:sldId id="290" r:id="rId38"/>
    <p:sldId id="291" r:id="rId39"/>
  </p:sldIdLst>
  <p:sldSz cx="9144000" cy="5143500" type="screen16x9"/>
  <p:notesSz cx="6858000" cy="9144000"/>
  <p:embeddedFontLst>
    <p:embeddedFont>
      <p:font typeface="Kalam" panose="02000000000000000000" pitchFamily="2" charset="77"/>
      <p:regular r:id="rId41"/>
      <p:bold r:id="rId42"/>
    </p:embeddedFont>
    <p:embeddedFont>
      <p:font typeface="Open Sans Light" panose="020B0306030504020204" pitchFamily="34" charset="0"/>
      <p:regular r:id="rId43"/>
      <p:italic r:id="rId44"/>
    </p:embeddedFont>
    <p:embeddedFont>
      <p:font typeface="Open Sans SemiBold" panose="020B070603080402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68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Eric Deandrea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3"/>
    <p:restoredTop sz="82075"/>
  </p:normalViewPr>
  <p:slideViewPr>
    <p:cSldViewPr>
      <p:cViewPr varScale="1">
        <p:scale>
          <a:sx n="167" d="100"/>
          <a:sy n="167" d="100"/>
        </p:scale>
        <p:origin x="176" y="816"/>
      </p:cViewPr>
      <p:guideLst>
        <p:guide orient="horz" pos="226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On screen before the talk starts, the resting state while the room fills.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Swap the logo in the corner per conference.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Don't linger here when you start, advance straight into the pre-tease.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Flash this. No explanation, no setup.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it sit a beat, then something like 'hold that thought.'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is Mode A's real captured wrong answer to the author question.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Comes back in Act 2's verdict.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Quick credibility beat, keep it fast, this isn't the hook.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Java Champion, 27+ years, docling-java and quarkus-docling project lead.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Dual credibility: Spring Boot committer history plus deep Quarkus work.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Marks the end of intro/bio, start of the actual talk content.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Quick beat, don't linger.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Wording is a placeholder, easy to swap.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Fast primer, ~5 min total for this slide plus the two pipeline diagrams.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Just enough vocabulary, ingest, chunk, embed, retrieve, generate, to orient the room.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This is the visual anchor. Ingestion is the scene of the crime.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the circle sit for a beat before moving on.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is what the room should remember once Act 1 starts pulling ingestion apart.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This is the pipeline stage the entire talk lives in.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Don't over-explain each icon.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Just establish the shape: documents in, split, embedded, stored.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Keep this lighter and faster than the ingestion slide, it's not the focus.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Just enough to complete the mental model before Act 1 breaks ingestion.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DocLayNet, KDD 2022, IBM Research. Real peer-reviewed paper, not synthetic.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joke: a paper about document-layout analysis about to have its own layout analyzed. Let it land.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Credibility beat: the same PDF Docling's own team uses to demo naive-extraction failure. Not cherry-picked.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Section marker, quick. Don't linger.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Conceptual only, no code yet, that's the next beat.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Tika for extraction, a naive sentence splitter for chunking.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Frame this as the code most people reach for first instinctively, not a strawman.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switch to the app now.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Mode: A. Ask: “Who wrote the paper?”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the room see the real answer land, then come back to slides 11-13.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📌 FALLBACK for the live query above.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If it worked live: breeze through this, don't re-read it verbatim.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If live failed or skipped: this is your primary content now, deliver it fresh.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is real, captured from the actual running app, nothing invented.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scarier part isn't that it's wrong, it's how confident it sounds. Land that line, then pause.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Advance to reveal why: it's citation [5] from the bibliography, not the paper itself.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the audience place it themselves for a beat before you say anything.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All four retrieved chunks are bibliography entries, scores 0.78-0.80.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Close enough that the retriever can't tell a citation from the actual byline.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exact question comes back in Act 2's verdict, plant that expectation here.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Real source, straight from the repo. Imports trimmed for the slide.</a:t>
            </a:r>
          </a:p>
          <a:p>
            <a:pPr marL="685800" lvl="1" indent="-228600">
              <a:buFont typeface="Arial"/>
              <a:buChar char="•"/>
            </a:pPr>
            <a:r>
              <a:rPr lang="en-US" sz="1400" dirty="0"/>
              <a:t>Things in green are directly from LangChain4j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the brevity land, this is genuinely all it takes to wire up. Nothing here looks wrong.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LangChain4j's FileSystemDocumentLoader plus Apache Tika's parser, four lines of actual logic.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This is the real chunker, trimmed from 111 lines to the core method.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full file also does provenance attachment and context enrichment, mentioned, not shown in full.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code's own comment makes the point for you: 'the chunker is identical, only extraction quality differs.' Let that land, it's basically the thesis of the whole talk.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attachMetadata() comment connects back to the pre-tease/verdict screenshots: this is why Mode A's chunk table had blank Page/Type/Label columns. Not a UI bug, Tika just doesn't have that data.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Real source, verified from the repo. Method signature trimmed to (&amp;#8230;) for space, full params are embeddingStore/embeddingModel/config.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Land this as a quick, almost throwaway beat, ~1-2 min. The point is how UNinteresting this is, don't over-explain the builder calls.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payoff is the metadataKeysToInclude line, that's literally the mechanism that takes the chunker's 'extended_content' enrichment and puts it in front of the LLM. Tie it back explicitly: 'remember that comment on the chunker slide? This is where it actually matters.'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Explicitly say this is identical across Modes A, B, and C, reinforces the 'only extraction changes' discipline with actual code, not just an assertion.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🎤 TRANSITION IN: “And this isn't just a problem for my demo. Here's what document-parsing chaos actually causes, out in the real world.”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Real, sourced from Retraction Watch reporting, not invented.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Present the column-misread explanation as a theory, not a settled fact.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There's a competing Persian-mistranslation theory that's arguably stronger evidence-wise, don't overclaim certainty.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What's not in dispute: the phrase is real, documented, now used as a fraud-detection fingerprint. That's the point, not the origin story.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Landing line: this isn't hypothetical stakes, it already happened.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Quick beat, ~5 min, this is a bridge, not a deep dive.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obvious objection: why not skip extraction and point a big multimodal model at the raw PDF?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These four reasons, briefly, no need to defend each one at length.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point is there's no free lunch, not that any single reason is airtight alone.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Land the transition into Act 2: extraction still matters, so let's fix extraction properly.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Quick beat, just the section marker. Don't linger.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Content sourced from Docling's own official overview deck (Panos Vagenas, Technical Steering Committee), rebuilt in our own visual style, not copied.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Quick beat, this is context-setting before the Java-specific story on the next slide.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Leads straight into 'but everything here is Python', the next slide picks that up immediately.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“Everything we've described lives in the Python ecosystem. And last time I checked, I'm a Java Champion! Even though it gets cold in Colorado, Java developers shouldn't have to be left out in it.”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official Java integration, one of the project's own listed key repositories, not a scrappy side fork.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Conceptual, no code yet, that's next.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Say the constraint out loud: everything except extraction is held constant.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That's what makes this a real experiment, not just a vibe.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Beat, then: '...well, that or the LLM just felt like hallucinating differently this time. That's always on the table too.' Said with a grin, not defensively.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switch to the app now.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Mode: B (or A+B side by side if the UI supports it). Ask: “Who wrote the paper?”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Then advance to the verdict slide, left already matches Mode A's known answer, right needs your real Mode B capture.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Both panels now real, sourced from docs/images/q5-who-wrote-paper-results.png. Safe to present as-is.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 A panel uses the deck's original captured text throughout, not this screenshot's run (LLM non-determinism). Keep that consistent.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 B's real answer is genuinely long, the panel is condensed on purpose, the length itself is the joke.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Once real: same question, right answer this time, extraction was the only thing that changed. Let that land.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Real source, trimmed to the core extract() method. buildFullText/buildProvenance/tableToText are all real helper methods, just not shown in full here.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Class name correction: it's DoclingNaiveExtractor, not a single shared DoclingExtractor. Docling Serve is called reactively via Mutiny (Uni), worth a one-line mention if anyone asks why this doesn't look like a plain synchronous call.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Explicitly reinforce: NaiveChunker doesn't appear in this file at all, that's the point, it's untouched from Act 1.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Say it out loud, this is the real payoff: provenance is why Mode B's retrieved chunks carry real Page/Type/Label values where Mode A's were blank. That's the whole reason Mode B's answers are more grounded than Mode A's.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Section marker, quick.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This is the real mechanism, sourced directly from DoclingHybridExtractor's own javadoc.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'table rows become facts' line sets up the Q5 knockout, plant it here.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orphaned-figure-text line explains why Q1/Q2 tie across all three modes.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It's not that Mode A/B are secretly fine with charts, Mode C had to build a specific rescue mechanism (spec 006).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switch to the app now. Ask Q3 ("Who wrote the paper?") in Mode C. A and B already answered this in Acts 1 &amp; 2, leave their panels as captured; only C is new. This is the callback, let it breathe.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All three panels now real, sourced from docs/images/q5-who-wrote-paper-results.png. Safe to present as-is.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screenshot's Mode A answer differs from the one used elsewhere (LLM non-determinism), keep using the original captured text everywhere else.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is the callback moment, the same question, now answered a third time.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 B's answer is real but long, the panel is intentionally condensed, the verbosity is the point.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Mode C's directness after B's verbosity is the actual joke, page-1 ACM Reference block vs. five paragraphs of addresses.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📌 FALLBACK for the Q3 live call above. Worked live: breeze through, confirm C's page-1 ACM Reference answer against B's verbosity. Didn't: present these captured panels as primary content.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back to the app. Ask Q1 ("how many annotators, how long") then Q2 ("what % are Patents") across A+B+C. Both tie, keep it fast (~30-45s), this is the "not cherry-picking" beat, not suspense.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Both fully real, sourced from the README, safe to present as-is.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Keep this fast, ~30-45 seconds total for both.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Credibility beat, not a suspense beat, 'we're not cherry-picking,' not 'watch this closely.'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Worth saying out loud: Mode C only ties on Patents because of a rescue mechanism someone had to build.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📌 FALLBACK for the Q1 + Q2 live calls above. Worked live: confirm the ties fast. Didn't: present both rows as captured.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back to the app. Ask Q4 (Table 2, which architecture won) across A+B+C. Same answer, escalating evidence.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Fully real, all three panels, safe to present as-is.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Middle beat of the escalation: tie → same answer, different evidence → only one can answer.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the audience notice Mode C's panel has actual numbers before you point it out.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Don't rush this one, first time evidence quality, not just correctness, becomes visible.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📌 FALLBACK for the Q4 live call above. Worked live: let the audience notice Mode C's actual numbers before you point them out. Didn't: present these panels as captured.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🔴 LIVE DEMO NEXT: back to the app, one last time. Ask Q5 (the knockout: mAP gap, Caption row: YOLOv5x6 77.7 vs FRCNN R101 70.1) across A+B+C. Isolated on purpose, this is the closer.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Fully real, all three panels, safe to present as-is. This is the closer.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Let Mode A and B's panels sit for a beat, both genuinely can't answer, a full stop.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Then Mode C. Don't read the whole quote, let '7.6 mAP points' land visually.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This is where you can go back to the cold open: same document, same LLM, only the processing changed.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📌 FALLBACK for the Q5 live call above. The knockout. Worked live: let A and B's "can't answer" sit for a beat, then C computing 7.6 points. Didn't: deliver these panels fresh as primary content. Close the app after, this is the last live call.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Simplified for the slide, the real chunk-mapping and orphan-rescue logic is inline, not separate named calls.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Contrast with Act 2's extractor: that one calls extract(), this calls extractAndChunk().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Different return type (List&lt;TextSegment&gt;, not ExtractionResult), chunking happens here now.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includeConvertedDoc(true) is why this method can still resolve captions/element types from chunks alone.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Verified current, not stale marketing copy.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Arconia Docling is real and actively maintained; DoclingDocumentReader implements Spring AI's own DocumentReader API directly.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The Thomas Vitale story is genuinely warm, two Java Champions independently solving the same problem, then combining efforts.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Keep this beat brisk, ~4 min total, breadth and goodwill, not deep technical detail.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Quarkus and Spring Boot both get zero-config Testcontainers dev services for Docling Serve.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Section marker, quick. Don't linger.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Every mark on this slide is real, sourced from the demo, the README, and the two screenshots used throughout. Nothing here is invented for the recap.</a:t>
            </a:r>
          </a:p>
          <a:p>
            <a:r>
              <a:t>Let this sit for a beat before talking through it, Table 2 is no longer a flat tie, C's green double checks on the last two rows are the tell.</a:t>
            </a:r>
          </a:p>
          <a:p>
            <a:r>
              <a:t>Don't re-explain every row, the audience just watched all five live or in fallback. Land on the last row, mAP difference, only C, that's the whole talk in one line of a table.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400" dirty="0"/>
              <a:t>⚠ Slides QR is a placeholder, dashed border, 'TBD' text, not a working code. Fill in once the slides URL exists, before presenting for real.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Repo QR is real and live, github.com/edeandrea/garbage-in-insight-out, safe to present as-is.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/>
              <a:t>Style matches the closing slide from the BJUACM testing-practices talk, same blue background, same 'Thank You!' treatment, adapted for two links instead of one.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ally 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3940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1">
  <p:cSld name="TITLE_AND_BODY_2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4419600" y="4629150"/>
            <a:ext cx="2133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l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95048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">
  <p:cSld name="TITLE_1_1">
    <p:bg>
      <p:bgPr>
        <a:solidFill>
          <a:srgbClr val="4695EB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50" y="4791450"/>
            <a:ext cx="287500" cy="2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6"/>
          <p:cNvSpPr/>
          <p:nvPr/>
        </p:nvSpPr>
        <p:spPr>
          <a:xfrm>
            <a:off x="6635275" y="4591325"/>
            <a:ext cx="2385600" cy="487500"/>
          </a:xfrm>
          <a:prstGeom prst="rect">
            <a:avLst/>
          </a:prstGeom>
          <a:solidFill>
            <a:srgbClr val="4695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8" name="Google Shape;2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3375" y="4821336"/>
            <a:ext cx="245401" cy="208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8075" y="4802975"/>
            <a:ext cx="245400" cy="2454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17375" y="4823554"/>
            <a:ext cx="192024" cy="192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45775" y="4843363"/>
            <a:ext cx="164594" cy="164593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/>
          <p:nvPr/>
        </p:nvSpPr>
        <p:spPr>
          <a:xfrm>
            <a:off x="8066143" y="4758172"/>
            <a:ext cx="982800" cy="290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@</a:t>
            </a:r>
            <a:r>
              <a:rPr lang="en" sz="1000" b="1" i="0" u="none" strike="noStrike" cap="none" err="1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edeandrea</a:t>
            </a:r>
            <a:endParaRPr sz="1000" b="1" i="0" u="none" strike="noStrike" cap="none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421925" y="2151275"/>
            <a:ext cx="8300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0" i="0" u="none" strike="noStrike" cap="none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35775" y="2141975"/>
            <a:ext cx="8279700" cy="11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>
            <a:lvl1pPr marL="457200" lvl="0" indent="-5016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●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1pPr>
            <a:lvl2pPr marL="914400" lvl="1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○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2pPr>
            <a:lvl3pPr marL="1371600" lvl="2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■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3pPr>
            <a:lvl4pPr marL="1828800" lvl="3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●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4pPr>
            <a:lvl5pPr marL="2286000" lvl="4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○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5pPr>
            <a:lvl6pPr marL="2743200" lvl="5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■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6pPr>
            <a:lvl7pPr marL="3200400" lvl="6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●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7pPr>
            <a:lvl8pPr marL="3657600" lvl="7" indent="-5016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Kalam"/>
              <a:buChar char="○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8pPr>
            <a:lvl9pPr marL="4114800" lvl="8" indent="-50165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4300"/>
              <a:buFont typeface="Kalam"/>
              <a:buChar char="■"/>
              <a:defRPr sz="43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3" Type="http://schemas.openxmlformats.org/officeDocument/2006/relationships/hyperlink" Target="https://www.linkedin.com/in/edeandrea/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hyperlink" Target="https://bsky.app/profile/ericdeandrea.dev" TargetMode="External"/><Relationship Id="rId10" Type="http://schemas.openxmlformats.org/officeDocument/2006/relationships/hyperlink" Target="https://github.com/edeandrea" TargetMode="Externa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Kalam"/>
              <a:buNone/>
              <a:defRPr sz="2800" b="1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Kalam"/>
              <a:buChar char="●"/>
              <a:defRPr sz="18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○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■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●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○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■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●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Kalam"/>
              <a:buChar char="○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Font typeface="Kalam"/>
              <a:buChar char="■"/>
              <a:defRPr sz="1400" b="0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1150" y="4776350"/>
            <a:ext cx="299100" cy="2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8058776" y="4781191"/>
            <a:ext cx="1007100" cy="3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@</a:t>
            </a:r>
            <a:r>
              <a:rPr lang="en" sz="1000" b="1" i="0" u="none" strike="noStrike" cap="none" err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edeandrea</a:t>
            </a:r>
            <a:endParaRPr sz="1000" b="1" i="0" u="none" strike="noStrike" cap="none">
              <a:solidFill>
                <a:srgbClr val="434343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" name="Google Shape;10;p1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895075" y="4839913"/>
            <a:ext cx="208725" cy="20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31375" y="4857798"/>
            <a:ext cx="163702" cy="16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522575" y="4852676"/>
            <a:ext cx="208801" cy="17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277775" y="4839888"/>
            <a:ext cx="208800" cy="208800"/>
          </a:xfrm>
          <a:prstGeom prst="ellipse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56" r:id="rId2"/>
    <p:sldLayoutId id="2147483657" r:id="rId3"/>
    <p:sldLayoutId id="2147483658" r:id="rId4"/>
    <p:sldLayoutId id="2147483659" r:id="rId5"/>
    <p:sldLayoutId id="2147483663" r:id="rId6"/>
    <p:sldLayoutId id="2147483690" r:id="rId7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arxiv.org/abs/2206.01062" TargetMode="Externa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tractionwatch.com/2025/02/10/vegetative-electron-microscopy-fingerprint-paper-mill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ling.ai/" TargetMode="Externa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ling-project.github.io/docling-java/" TargetMode="Externa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onference Logo">
            <a:extLst>
              <a:ext uri="{FF2B5EF4-FFF2-40B4-BE49-F238E27FC236}">
                <a16:creationId xmlns:a16="http://schemas.microsoft.com/office/drawing/2014/main" id="{577B8AD8-B1B8-ABA8-28A1-523F4E5EF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19550"/>
            <a:ext cx="1219200" cy="1219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estionBubble"/>
          <p:cNvSpPr/>
          <p:nvPr/>
        </p:nvSpPr>
        <p:spPr>
          <a:xfrm>
            <a:off x="700000" y="500000"/>
            <a:ext cx="7744000" cy="7000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>
            <a:noFill/>
          </a:ln>
        </p:spPr>
        <p:txBody>
          <a:bodyPr lIns="182880" tIns="91440" rIns="182880" bIns="91440" anchor="ctr"/>
          <a:lstStyle/>
          <a:p>
            <a:r>
              <a:rPr lang="en-US" sz="1600">
                <a:solidFill>
                  <a:srgbClr val="212121"/>
                </a:solidFill>
              </a:rPr>
              <a:t>Who wrote this paper?</a:t>
            </a:r>
          </a:p>
        </p:txBody>
      </p:sp>
      <p:sp>
        <p:nvSpPr>
          <p:cNvPr id="3" name="AnswerBubble"/>
          <p:cNvSpPr/>
          <p:nvPr/>
        </p:nvSpPr>
        <p:spPr>
          <a:xfrm>
            <a:off x="700000" y="1500000"/>
            <a:ext cx="7744000" cy="15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228600" tIns="182880" rIns="228600" bIns="182880" anchor="ctr"/>
          <a:lstStyle/>
          <a:p>
            <a:r>
              <a:rPr lang="en-US" sz="1400">
                <a:solidFill>
                  <a:srgbClr val="212121"/>
                </a:solidFill>
              </a:rPr>
              <a:t>“...the paper titled </a:t>
            </a:r>
            <a:r>
              <a:rPr lang="en-US" sz="1400" b="1">
                <a:solidFill>
                  <a:srgbClr val="C0392B"/>
                </a:solidFill>
              </a:rPr>
              <a:t>“Segmentation for document layout analysis: not dead yet”</a:t>
            </a:r>
            <a:r>
              <a:rPr lang="en-US" sz="1400">
                <a:solidFill>
                  <a:srgbClr val="212121"/>
                </a:solidFill>
              </a:rPr>
              <a:t> was written by Logan Markewich, Hao Zhang, Yubin Xing, Navid Lambert-Shirzad, Jiang Zhexin, Roy Lee, Zhi Li, and Seok-Bum Ko.”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>
          <a:extLst>
            <a:ext uri="{FF2B5EF4-FFF2-40B4-BE49-F238E27FC236}">
              <a16:creationId xmlns:a16="http://schemas.microsoft.com/office/drawing/2014/main" id="{0F220D3F-B463-EFF0-AD1D-CCB99743B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35;p29">
            <a:extLst>
              <a:ext uri="{FF2B5EF4-FFF2-40B4-BE49-F238E27FC236}">
                <a16:creationId xmlns:a16="http://schemas.microsoft.com/office/drawing/2014/main" id="{A4AEB6C5-5210-2DE5-8C93-5DF843BAF1F6}"/>
              </a:ext>
            </a:extLst>
          </p:cNvPr>
          <p:cNvSpPr txBox="1">
            <a:spLocks/>
          </p:cNvSpPr>
          <p:nvPr/>
        </p:nvSpPr>
        <p:spPr>
          <a:xfrm>
            <a:off x="287450" y="706590"/>
            <a:ext cx="8520600" cy="4379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00000000000000000" pitchFamily="2" charset="77"/>
                <a:ea typeface="Arial" panose="02000000000000000000" pitchFamily="2" charset="77"/>
                <a:cs typeface="Arial" panose="02000000000000000000" pitchFamily="2" charset="77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Java Champion</a:t>
            </a:r>
          </a:p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27+ years software development experience</a:t>
            </a:r>
          </a:p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Works on Open Source projects</a:t>
            </a: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Quarkus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LangChain4j, </a:t>
            </a: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Quarkus</a:t>
            </a: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 LangChain4j</a:t>
            </a: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Docling</a:t>
            </a: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 Java, </a:t>
            </a: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Quarkus</a:t>
            </a: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 </a:t>
            </a: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Docling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Langfuse</a:t>
            </a: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 Java, </a:t>
            </a: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Quarkus</a:t>
            </a: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 </a:t>
            </a: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Langfuse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Spring Boot, Spring Framework, Spring Security</a:t>
            </a: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Testcontainers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Wiremock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 marL="1041400" lvl="2" indent="0">
              <a:lnSpc>
                <a:spcPct val="125000"/>
              </a:lnSpc>
              <a:buSzPts val="1600"/>
              <a:buFont typeface="Arial"/>
              <a:buNone/>
            </a:pPr>
            <a:r>
              <a:rPr lang="en-US" sz="1600" err="1">
                <a:latin typeface="Arial" panose="02000000000000000000" pitchFamily="2" charset="77"/>
                <a:ea typeface="Arial"/>
                <a:cs typeface="Arial" panose="02000000000000000000" pitchFamily="2" charset="77"/>
                <a:sym typeface="Arial"/>
              </a:rPr>
              <a:t>Microcks</a:t>
            </a:r>
            <a:endParaRPr lang="en-US" sz="1600">
              <a:latin typeface="Arial" panose="02000000000000000000" pitchFamily="2" charset="77"/>
              <a:ea typeface="Arial"/>
              <a:cs typeface="Arial" panose="02000000000000000000" pitchFamily="2" charset="77"/>
              <a:sym typeface="Arial"/>
            </a:endParaRPr>
          </a:p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Boston Java Users ACM Chapter Vice Chair &amp; Board Member</a:t>
            </a:r>
          </a:p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Published Author</a:t>
            </a:r>
          </a:p>
          <a:p>
            <a:pPr>
              <a:buFont typeface="Arial"/>
              <a:buChar char="●"/>
            </a:pPr>
            <a:r>
              <a:rPr lang="en-US">
                <a:ea typeface="Arial"/>
                <a:sym typeface="Arial"/>
              </a:rPr>
              <a:t>Cat lover</a:t>
            </a:r>
          </a:p>
        </p:txBody>
      </p:sp>
      <p:pic>
        <p:nvPicPr>
          <p:cNvPr id="74" name="Google Shape;74;p16">
            <a:extLst>
              <a:ext uri="{FF2B5EF4-FFF2-40B4-BE49-F238E27FC236}">
                <a16:creationId xmlns:a16="http://schemas.microsoft.com/office/drawing/2014/main" id="{405885AF-7235-CB54-BAC8-43CB963E4AA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822" y="788041"/>
            <a:ext cx="489101" cy="2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>
            <a:extLst>
              <a:ext uri="{FF2B5EF4-FFF2-40B4-BE49-F238E27FC236}">
                <a16:creationId xmlns:a16="http://schemas.microsoft.com/office/drawing/2014/main" id="{48F9CA97-2E38-9901-B609-449B125BD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800" b="1">
                <a:latin typeface="Kalam"/>
                <a:ea typeface="Kalam"/>
                <a:cs typeface="Kalam"/>
                <a:sym typeface="Kalam"/>
              </a:rPr>
              <a:t>Who am I?</a:t>
            </a:r>
            <a:endParaRPr/>
          </a:p>
        </p:txBody>
      </p:sp>
      <p:pic>
        <p:nvPicPr>
          <p:cNvPr id="81" name="Google Shape;81;p16">
            <a:extLst>
              <a:ext uri="{FF2B5EF4-FFF2-40B4-BE49-F238E27FC236}">
                <a16:creationId xmlns:a16="http://schemas.microsoft.com/office/drawing/2014/main" id="{E78B19EC-CFB6-ED0C-D2EF-3019321CA9C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6339" y="3891484"/>
            <a:ext cx="464850" cy="359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>
            <a:extLst>
              <a:ext uri="{FF2B5EF4-FFF2-40B4-BE49-F238E27FC236}">
                <a16:creationId xmlns:a16="http://schemas.microsoft.com/office/drawing/2014/main" id="{98624F40-9EAB-CB57-31CC-DF5825A0E592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1250" y="3021799"/>
            <a:ext cx="851300" cy="128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3;p29" descr="Google Shape;60;p15">
            <a:extLst>
              <a:ext uri="{FF2B5EF4-FFF2-40B4-BE49-F238E27FC236}">
                <a16:creationId xmlns:a16="http://schemas.microsoft.com/office/drawing/2014/main" id="{A59CDF6C-3CF8-E7CC-9E54-4A9E911E47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49801" y="0"/>
            <a:ext cx="1794199" cy="2104500"/>
          </a:xfrm>
          <a:prstGeom prst="roundRect">
            <a:avLst/>
          </a:prstGeom>
          <a:noFill/>
          <a:ln>
            <a:noFill/>
          </a:ln>
        </p:spPr>
      </p:pic>
      <p:pic>
        <p:nvPicPr>
          <p:cNvPr id="3" name="Picture 2" descr="ibm.png">
            <a:extLst>
              <a:ext uri="{FF2B5EF4-FFF2-40B4-BE49-F238E27FC236}">
                <a16:creationId xmlns:a16="http://schemas.microsoft.com/office/drawing/2014/main" id="{97B13E91-40E4-90F8-34E7-776576580A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2808" y="2105124"/>
            <a:ext cx="2208184" cy="908939"/>
          </a:xfrm>
          <a:prstGeom prst="rect">
            <a:avLst/>
          </a:prstGeom>
        </p:spPr>
      </p:pic>
      <p:pic>
        <p:nvPicPr>
          <p:cNvPr id="8" name="Google Shape;137;p29">
            <a:extLst>
              <a:ext uri="{FF2B5EF4-FFF2-40B4-BE49-F238E27FC236}">
                <a16:creationId xmlns:a16="http://schemas.microsoft.com/office/drawing/2014/main" id="{938ED3A2-E2D4-7C0A-5D23-9792A8895091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62645" y="1677617"/>
            <a:ext cx="213175" cy="2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38;p29">
            <a:extLst>
              <a:ext uri="{FF2B5EF4-FFF2-40B4-BE49-F238E27FC236}">
                <a16:creationId xmlns:a16="http://schemas.microsoft.com/office/drawing/2014/main" id="{5802BFE3-BD4F-067B-1AA6-3C619445B6E4}"/>
              </a:ext>
            </a:extLst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88796">
            <a:off x="976701" y="2795198"/>
            <a:ext cx="213175" cy="2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39;p29">
            <a:extLst>
              <a:ext uri="{FF2B5EF4-FFF2-40B4-BE49-F238E27FC236}">
                <a16:creationId xmlns:a16="http://schemas.microsoft.com/office/drawing/2014/main" id="{6BDC31C7-BDB1-C642-ABE9-8AFCE154F01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9197" y="1957600"/>
            <a:ext cx="256623" cy="240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40;p29">
            <a:extLst>
              <a:ext uri="{FF2B5EF4-FFF2-40B4-BE49-F238E27FC236}">
                <a16:creationId xmlns:a16="http://schemas.microsoft.com/office/drawing/2014/main" id="{4FD2D9F5-20F7-0299-0142-3C5E2F685D36}"/>
              </a:ext>
            </a:extLst>
          </p:cNvPr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6807" y="3374634"/>
            <a:ext cx="464850" cy="174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41;p29">
            <a:extLst>
              <a:ext uri="{FF2B5EF4-FFF2-40B4-BE49-F238E27FC236}">
                <a16:creationId xmlns:a16="http://schemas.microsoft.com/office/drawing/2014/main" id="{05816F92-C166-0E3E-4EF0-CBFB38D4F266}"/>
              </a:ext>
            </a:extLst>
          </p:cNvPr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81141" y="3638550"/>
            <a:ext cx="240542" cy="21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1BF1A3-F449-3ABB-21D2-B53F0F8D99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188796">
            <a:off x="946873" y="3059089"/>
            <a:ext cx="267251" cy="2573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BB78B9C-ED65-1E4D-3F33-AD0B0F56AD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188796">
            <a:off x="936309" y="2224638"/>
            <a:ext cx="267251" cy="2672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11B98B-BAF9-96C7-6551-68A84452797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6538" y="2440347"/>
            <a:ext cx="385388" cy="38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25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Text"/>
          <p:cNvSpPr txBox="1">
            <a:spLocks noGrp="1"/>
          </p:cNvSpPr>
          <p:nvPr>
            <p:ph type="body" idx="1"/>
          </p:nvPr>
        </p:nvSpPr>
        <p:spPr>
          <a:xfrm>
            <a:off x="435775" y="2221620"/>
            <a:ext cx="8279700" cy="963310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 dirty="0"/>
              <a:t>Quick Primer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Kalam"/>
                <a:ea typeface="Kalam"/>
                <a:cs typeface="Kalam"/>
                <a:sym typeface="Kalam"/>
              </a:rPr>
              <a:t>Retrieval Augmented Generation (RAG)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695EB"/>
                </a:solidFill>
                <a:latin typeface="Arial"/>
                <a:ea typeface="Arial"/>
                <a:cs typeface="Arial"/>
                <a:sym typeface="Arial"/>
              </a:rPr>
              <a:t>Enhance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LLM knowledge by providing relevant information in real-time from other sources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Dynamic data that changes frequently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Fine-tuning is expensive!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695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stages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Indexing / Ingestion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Retrieval / Augmentation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5" name="Google Shape;97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025" y="1342400"/>
            <a:ext cx="4810977" cy="312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9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Kalam"/>
                <a:ea typeface="Kalam"/>
                <a:cs typeface="Kalam"/>
                <a:sym typeface="Kalam"/>
              </a:rPr>
              <a:t>Retrieval Augmented Generation (RAG)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9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8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695EB"/>
                </a:solidFill>
                <a:latin typeface="Arial"/>
                <a:ea typeface="Arial"/>
                <a:cs typeface="Arial"/>
                <a:sym typeface="Arial"/>
              </a:rPr>
              <a:t>Enhance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LLM knowledge by providing relevant information in real-time from other sources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Dynamic data that changes frequently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Fine-tuning is expensive!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4695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2000">
                <a:latin typeface="Arial"/>
                <a:ea typeface="Arial"/>
                <a:cs typeface="Arial"/>
                <a:sym typeface="Arial"/>
              </a:rPr>
              <a:t> stages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Indexing / Ingestion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᠆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Retrieval / Augmentation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5" name="Google Shape;975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33025" y="1342400"/>
            <a:ext cx="4810977" cy="3126649"/>
          </a:xfrm>
          <a:prstGeom prst="rect">
            <a:avLst/>
          </a:prstGeom>
          <a:noFill/>
          <a:ln>
            <a:noFill/>
          </a:ln>
        </p:spPr>
      </p:pic>
      <p:sp>
        <p:nvSpPr>
          <p:cNvPr id="9001" name="IngestionHighlight"/>
          <p:cNvSpPr/>
          <p:nvPr/>
        </p:nvSpPr>
        <p:spPr>
          <a:xfrm>
            <a:off x="5060000" y="3260000"/>
            <a:ext cx="1220000" cy="860000"/>
          </a:xfrm>
          <a:prstGeom prst="ellipse">
            <a:avLst/>
          </a:prstGeom>
          <a:noFill/>
          <a:ln w="31750">
            <a:solidFill>
              <a:srgbClr val="C0392B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9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Kalam"/>
                <a:ea typeface="Kalam"/>
                <a:cs typeface="Kalam"/>
                <a:sym typeface="Kalam"/>
              </a:rPr>
              <a:t>Indexing / Ingestion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81" name="Google Shape;98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4038" y="1114700"/>
            <a:ext cx="6795924" cy="396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" name="Google Shape;1054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32" y="1017725"/>
            <a:ext cx="8875530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latin typeface="Kalam"/>
                <a:ea typeface="Kalam"/>
                <a:cs typeface="Kalam"/>
                <a:sym typeface="Kalam"/>
              </a:rPr>
              <a:t>Retrieval / Augmentation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cLayNet page 1"/>
          <p:cNvPicPr/>
          <p:nvPr/>
        </p:nvPicPr>
        <p:blipFill>
          <a:blip r:embed="rId3"/>
          <a:stretch>
            <a:fillRect/>
          </a:stretch>
        </p:blipFill>
        <p:spPr>
          <a:xfrm>
            <a:off x="500000" y="360000"/>
            <a:ext cx="3400000" cy="440000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3" name="DocText"/>
          <p:cNvSpPr txBox="1"/>
          <p:nvPr/>
        </p:nvSpPr>
        <p:spPr>
          <a:xfrm>
            <a:off x="4038600" y="500000"/>
            <a:ext cx="5029200" cy="4100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r>
              <a:rPr lang="en-US" sz="2800" b="1" dirty="0" err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DocLayNet</a:t>
            </a:r>
            <a:endParaRPr lang="en-US" sz="2800" b="1" dirty="0">
              <a:solidFill>
                <a:srgbClr val="212121"/>
              </a:solidFill>
              <a:latin typeface="Kalam"/>
              <a:ea typeface="Kalam"/>
              <a:cs typeface="Kalam"/>
              <a:sym typeface="Kalam"/>
            </a:endParaRPr>
          </a:p>
          <a:p>
            <a:r>
              <a:rPr lang="en-US" sz="1300" dirty="0" err="1">
                <a:solidFill>
                  <a:srgbClr val="595959"/>
                </a:solidFill>
              </a:rPr>
              <a:t>Pfitzmann</a:t>
            </a:r>
            <a:r>
              <a:rPr lang="en-US" sz="1300" dirty="0">
                <a:solidFill>
                  <a:srgbClr val="595959"/>
                </a:solidFill>
              </a:rPr>
              <a:t>, Auer, Dolfi, Nassar, Staar (IBM Research, KDD 2022)</a:t>
            </a:r>
          </a:p>
          <a:p>
            <a:endParaRPr lang="en-US" sz="600" dirty="0"/>
          </a:p>
          <a:p>
            <a:r>
              <a:rPr lang="en-US" sz="1400" dirty="0">
                <a:solidFill>
                  <a:srgbClr val="212121"/>
                </a:solidFill>
              </a:rPr>
              <a:t>A real, peer-reviewed paper. Five-author header, dense two-column body, complex tables, figures, footnotes: everything our abstract complains about.</a:t>
            </a:r>
          </a:p>
          <a:p>
            <a:endParaRPr lang="en-US" sz="600" dirty="0"/>
          </a:p>
          <a:p>
            <a:r>
              <a:rPr lang="en-US" sz="1400" i="1" dirty="0">
                <a:solidFill>
                  <a:srgbClr val="4285F4"/>
                </a:solidFill>
              </a:rPr>
              <a:t>It's a paper about document-layout analysis. It's about to have its own layout analyzed.</a:t>
            </a:r>
          </a:p>
          <a:p>
            <a:endParaRPr lang="en-US" sz="600" dirty="0"/>
          </a:p>
        </p:txBody>
      </p:sp>
      <p:pic>
        <p:nvPicPr>
          <p:cNvPr id="4" name="QRCode"/>
          <p:cNvPicPr/>
          <p:nvPr/>
        </p:nvPicPr>
        <p:blipFill>
          <a:blip r:embed="rId4"/>
          <a:stretch>
            <a:fillRect/>
          </a:stretch>
        </p:blipFill>
        <p:spPr>
          <a:xfrm>
            <a:off x="420000" y="4700000"/>
            <a:ext cx="380000" cy="380000"/>
          </a:xfrm>
          <a:prstGeom prst="rect">
            <a:avLst/>
          </a:prstGeom>
        </p:spPr>
      </p:pic>
      <p:sp>
        <p:nvSpPr>
          <p:cNvPr id="5" name="DoclingURL">
            <a:extLst>
              <a:ext uri="{FF2B5EF4-FFF2-40B4-BE49-F238E27FC236}">
                <a16:creationId xmlns:a16="http://schemas.microsoft.com/office/drawing/2014/main" id="{2A0209C9-505F-A3DC-8D6C-1254D5C0869B}"/>
              </a:ext>
            </a:extLst>
          </p:cNvPr>
          <p:cNvSpPr txBox="1"/>
          <p:nvPr/>
        </p:nvSpPr>
        <p:spPr>
          <a:xfrm>
            <a:off x="820832" y="4814412"/>
            <a:ext cx="2200000" cy="300000"/>
          </a:xfrm>
        </p:spPr>
        <p:txBody>
          <a:bodyPr/>
          <a:lstStyle/>
          <a:p>
            <a:r>
              <a:rPr lang="en-US" sz="1000" u="sng" dirty="0">
                <a:solidFill>
                  <a:srgbClr val="4285F4"/>
                </a:solidFill>
                <a:hlinkClick r:id="rId5"/>
              </a:rPr>
              <a:t>arxiv.org/abs/2206.01062</a:t>
            </a:r>
            <a:endParaRPr lang="en-US" sz="1000" u="sng" dirty="0">
              <a:solidFill>
                <a:srgbClr val="4285F4"/>
              </a:solidFill>
              <a:hlinkClick r:id="rId5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/>
              <a:t>Act 1: Mode A</a:t>
            </a:r>
          </a:p>
          <a:p>
            <a:pPr marL="0" indent="0" algn="ctr">
              <a:buNone/>
            </a:pPr>
            <a:r>
              <a:rPr lang="en-US" sz="2000" b="0" i="1"/>
              <a:t>The obvious way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latin typeface="Kalam"/>
                <a:ea typeface="Kalam"/>
                <a:cs typeface="Kalam"/>
                <a:sym typeface="Kalam"/>
              </a:rPr>
              <a:t>Mode A: The obvious way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Extract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Apache Tika: plain text, no layout awareness</a:t>
            </a:r>
          </a:p>
        </p:txBody>
      </p:sp>
      <p:sp>
        <p:nvSpPr>
          <p:cNvPr id="11" name="Card2"/>
          <p:cNvSpPr/>
          <p:nvPr/>
        </p:nvSpPr>
        <p:spPr>
          <a:xfrm>
            <a:off x="47220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Chunk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Sentence splitter: fixed rules, no table sense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311700" y="3150000"/>
            <a:ext cx="8520600" cy="600000"/>
          </a:xfrm>
        </p:spPr>
        <p:txBody>
          <a:bodyPr/>
          <a:lstStyle/>
          <a:p>
            <a:r>
              <a:rPr lang="en-US" sz="1100" i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This is the same code most people reach for first. This is what it actually does to our document.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A: “Who wrote the paper?”</a:t>
            </a:r>
          </a:p>
        </p:txBody>
      </p:sp>
      <p:sp>
        <p:nvSpPr>
          <p:cNvPr id="3" name="AnswerBubble"/>
          <p:cNvSpPr/>
          <p:nvPr/>
        </p:nvSpPr>
        <p:spPr>
          <a:xfrm>
            <a:off x="450000" y="680000"/>
            <a:ext cx="82440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228600" tIns="182880" rIns="228600" bIns="182880"/>
          <a:lstStyle/>
          <a:p>
            <a:r>
              <a:rPr lang="en-US" sz="1400">
                <a:solidFill>
                  <a:srgbClr val="212121"/>
                </a:solidFill>
              </a:rPr>
              <a:t>“...the paper titled </a:t>
            </a:r>
            <a:r>
              <a:rPr lang="en-US" sz="1400" b="1">
                <a:solidFill>
                  <a:srgbClr val="C0392B"/>
                </a:solidFill>
              </a:rPr>
              <a:t>“Segmentation for document layout analysis: not dead yet”</a:t>
            </a:r>
            <a:r>
              <a:rPr lang="en-US" sz="1400">
                <a:solidFill>
                  <a:srgbClr val="212121"/>
                </a:solidFill>
              </a:rPr>
              <a:t> was written by Logan Markewich, Hao Zhang, Yubin Xing, Navid Lambert-Shirzad, Jiang Zhexin, Roy Lee, Zhi Li, and Seok-Bum Ko.”</a:t>
            </a:r>
          </a:p>
          <a:p>
            <a:endParaRPr lang="en-US" sz="600"/>
          </a:p>
          <a:p>
            <a:r>
              <a:rPr lang="en-US" sz="1200" i="1">
                <a:solidFill>
                  <a:srgbClr val="595959"/>
                </a:solidFill>
              </a:rPr>
              <a:t>“This is the most clearly identified paper in the context with its author list provided.”</a:t>
            </a:r>
          </a:p>
        </p:txBody>
      </p:sp>
      <p:sp>
        <p:nvSpPr>
          <p:cNvPr id="4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A: “Who wrote the paper?”</a:t>
            </a:r>
          </a:p>
        </p:txBody>
      </p:sp>
      <p:sp>
        <p:nvSpPr>
          <p:cNvPr id="3" name="AnswerBubble"/>
          <p:cNvSpPr/>
          <p:nvPr/>
        </p:nvSpPr>
        <p:spPr>
          <a:xfrm>
            <a:off x="450000" y="680000"/>
            <a:ext cx="82440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228600" tIns="182880" rIns="228600" bIns="182880"/>
          <a:lstStyle/>
          <a:p>
            <a:r>
              <a:rPr lang="en-US" sz="1400">
                <a:solidFill>
                  <a:srgbClr val="212121"/>
                </a:solidFill>
              </a:rPr>
              <a:t>“...the paper titled </a:t>
            </a:r>
            <a:r>
              <a:rPr lang="en-US" sz="1400" b="1">
                <a:solidFill>
                  <a:srgbClr val="C0392B"/>
                </a:solidFill>
              </a:rPr>
              <a:t>“Segmentation for document layout analysis: not dead yet”</a:t>
            </a:r>
            <a:r>
              <a:rPr lang="en-US" sz="1400">
                <a:solidFill>
                  <a:srgbClr val="212121"/>
                </a:solidFill>
              </a:rPr>
              <a:t> was written by Logan Markewich, Hao Zhang, Yubin Xing, Navid Lambert-Shirzad, Jiang Zhexin, Roy Lee, Zhi Li, and Seok-Bum Ko.”</a:t>
            </a:r>
          </a:p>
          <a:p>
            <a:endParaRPr lang="en-US" sz="600"/>
          </a:p>
          <a:p>
            <a:r>
              <a:rPr lang="en-US" sz="1200" i="1">
                <a:solidFill>
                  <a:srgbClr val="595959"/>
                </a:solidFill>
              </a:rPr>
              <a:t>“This is the most clearly identified paper in the context with its author list provided.”</a:t>
            </a:r>
          </a:p>
        </p:txBody>
      </p:sp>
      <p:sp>
        <p:nvSpPr>
          <p:cNvPr id="4" name="Callout"/>
          <p:cNvSpPr txBox="1"/>
          <p:nvPr/>
        </p:nvSpPr>
        <p:spPr>
          <a:xfrm rot="-900000">
            <a:off x="450000" y="1500000"/>
            <a:ext cx="8244000" cy="65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US" sz="24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That's citation [5]. Not this paper.</a:t>
            </a:r>
          </a:p>
        </p:txBody>
      </p:sp>
      <p:sp>
        <p:nvSpPr>
          <p:cNvPr id="5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A: “Who wrote the paper?”</a:t>
            </a:r>
          </a:p>
        </p:txBody>
      </p:sp>
      <p:sp>
        <p:nvSpPr>
          <p:cNvPr id="3" name="AnswerBubble"/>
          <p:cNvSpPr/>
          <p:nvPr/>
        </p:nvSpPr>
        <p:spPr>
          <a:xfrm>
            <a:off x="450000" y="680000"/>
            <a:ext cx="82440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228600" tIns="182880" rIns="228600" bIns="182880"/>
          <a:lstStyle/>
          <a:p>
            <a:r>
              <a:rPr lang="en-US" sz="1400">
                <a:solidFill>
                  <a:srgbClr val="212121"/>
                </a:solidFill>
              </a:rPr>
              <a:t>“...the paper titled </a:t>
            </a:r>
            <a:r>
              <a:rPr lang="en-US" sz="1400" b="1">
                <a:solidFill>
                  <a:srgbClr val="C0392B"/>
                </a:solidFill>
              </a:rPr>
              <a:t>“Segmentation for document layout analysis: not dead yet”</a:t>
            </a:r>
            <a:r>
              <a:rPr lang="en-US" sz="1400">
                <a:solidFill>
                  <a:srgbClr val="212121"/>
                </a:solidFill>
              </a:rPr>
              <a:t> was written by Logan Markewich, Hao Zhang, Yubin Xing, Navid Lambert-Shirzad, Jiang Zhexin, Roy Lee, Zhi Li, and Seok-Bum Ko.”</a:t>
            </a:r>
          </a:p>
          <a:p>
            <a:endParaRPr lang="en-US" sz="600"/>
          </a:p>
          <a:p>
            <a:r>
              <a:rPr lang="en-US" sz="1200" i="1">
                <a:solidFill>
                  <a:srgbClr val="595959"/>
                </a:solidFill>
              </a:rPr>
              <a:t>“This is the most clearly identified paper in the context with its author list provided.”</a:t>
            </a:r>
          </a:p>
        </p:txBody>
      </p:sp>
      <p:sp>
        <p:nvSpPr>
          <p:cNvPr id="4" name="Callout"/>
          <p:cNvSpPr txBox="1"/>
          <p:nvPr/>
        </p:nvSpPr>
        <p:spPr>
          <a:xfrm rot="-900000">
            <a:off x="450000" y="1500000"/>
            <a:ext cx="8244000" cy="6500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algn="ctr"/>
            <a:r>
              <a:rPr lang="en-US" sz="24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That's citation [5]. Not this paper.</a:t>
            </a:r>
          </a:p>
        </p:txBody>
      </p:sp>
      <p:sp>
        <p:nvSpPr>
          <p:cNvPr id="5" name="ChunksLabel"/>
          <p:cNvSpPr txBox="1"/>
          <p:nvPr/>
        </p:nvSpPr>
        <p:spPr>
          <a:xfrm>
            <a:off x="450000" y="2650000"/>
            <a:ext cx="8244000" cy="340000"/>
          </a:xfrm>
        </p:spPr>
        <p:txBody>
          <a:bodyPr/>
          <a:lstStyle/>
          <a:p>
            <a:r>
              <a:rPr lang="en-US" sz="1400" b="1">
                <a:solidFill>
                  <a:srgbClr val="212121"/>
                </a:solidFill>
              </a:rPr>
              <a:t>What actually got retrieved (top 4, by score):</a:t>
            </a:r>
          </a:p>
        </p:txBody>
      </p:sp>
      <p:sp>
        <p:nvSpPr>
          <p:cNvPr id="6" name="ChunkRow1"/>
          <p:cNvSpPr/>
          <p:nvPr/>
        </p:nvSpPr>
        <p:spPr>
          <a:xfrm>
            <a:off x="450000" y="3010000"/>
            <a:ext cx="8244000" cy="43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lIns="182880" tIns="45720" rIns="182880" bIns="45720" anchor="ctr"/>
          <a:lstStyle/>
          <a:p>
            <a:r>
              <a:rPr lang="en-US" sz="1200" b="1">
                <a:solidFill>
                  <a:srgbClr val="4285F4"/>
                </a:solidFill>
              </a:rPr>
              <a:t>0.80  </a:t>
            </a:r>
            <a:r>
              <a:rPr lang="en-US" sz="1200">
                <a:solidFill>
                  <a:srgbClr val="212121"/>
                </a:solidFill>
              </a:rPr>
              <a:t>“In 2017 14th IAPR International Conference on Document Analysis and Recognition …”</a:t>
            </a:r>
          </a:p>
        </p:txBody>
      </p:sp>
      <p:sp>
        <p:nvSpPr>
          <p:cNvPr id="7" name="ChunkRow2"/>
          <p:cNvSpPr/>
          <p:nvPr/>
        </p:nvSpPr>
        <p:spPr>
          <a:xfrm>
            <a:off x="450000" y="3460000"/>
            <a:ext cx="8244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0" tIns="45720" rIns="182880" bIns="45720" anchor="ctr"/>
          <a:lstStyle/>
          <a:p>
            <a:r>
              <a:rPr lang="en-US" sz="1200" b="1">
                <a:solidFill>
                  <a:srgbClr val="4285F4"/>
                </a:solidFill>
              </a:rPr>
              <a:t>0.79  </a:t>
            </a:r>
            <a:r>
              <a:rPr lang="en-US" sz="1200">
                <a:solidFill>
                  <a:srgbClr val="212121"/>
                </a:solidFill>
              </a:rPr>
              <a:t>“In Proceedings of the 28th International Conference on Computational Linguistics…”</a:t>
            </a:r>
          </a:p>
        </p:txBody>
      </p:sp>
      <p:sp>
        <p:nvSpPr>
          <p:cNvPr id="8" name="ChunkRow3"/>
          <p:cNvSpPr/>
          <p:nvPr/>
        </p:nvSpPr>
        <p:spPr>
          <a:xfrm>
            <a:off x="450000" y="3910000"/>
            <a:ext cx="8244000" cy="43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lIns="182880" tIns="45720" rIns="182880" bIns="45720" anchor="ctr"/>
          <a:lstStyle/>
          <a:p>
            <a:r>
              <a:rPr lang="en-US" sz="1200" b="1">
                <a:solidFill>
                  <a:srgbClr val="4285F4"/>
                </a:solidFill>
              </a:rPr>
              <a:t>0.79  </a:t>
            </a:r>
            <a:r>
              <a:rPr lang="en-US" sz="1200">
                <a:solidFill>
                  <a:srgbClr val="212121"/>
                </a:solidFill>
              </a:rPr>
              <a:t>“In Proceedings of the International Conference on Document Analysis and Recognit…”</a:t>
            </a:r>
          </a:p>
        </p:txBody>
      </p:sp>
      <p:sp>
        <p:nvSpPr>
          <p:cNvPr id="9" name="ChunkRow4"/>
          <p:cNvSpPr/>
          <p:nvPr/>
        </p:nvSpPr>
        <p:spPr>
          <a:xfrm>
            <a:off x="450000" y="4360000"/>
            <a:ext cx="8244000" cy="43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182880" tIns="22860" rIns="182880" bIns="22860" anchor="ctr"/>
          <a:lstStyle/>
          <a:p>
            <a:r>
              <a:rPr lang="en-US" sz="1200" b="1">
                <a:solidFill>
                  <a:srgbClr val="4285F4"/>
                </a:solidFill>
              </a:rPr>
              <a:t>0.78  </a:t>
            </a:r>
            <a:r>
              <a:rPr lang="en-US" sz="1200">
                <a:solidFill>
                  <a:srgbClr val="212121"/>
                </a:solidFill>
              </a:rPr>
              <a:t>“In Proceedings of the International Conference on Document Analysis and Recognit…”</a:t>
            </a:r>
          </a:p>
        </p:txBody>
      </p:sp>
      <p:sp>
        <p:nvSpPr>
          <p:cNvPr id="10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A: The Extractor</a:t>
            </a:r>
          </a:p>
        </p:txBody>
      </p:sp>
      <p:sp>
        <p:nvSpPr>
          <p:cNvPr id="3" name="CodeBlock"/>
          <p:cNvSpPr/>
          <p:nvPr/>
        </p:nvSpPr>
        <p:spPr>
          <a:xfrm>
            <a:off x="450000" y="900000"/>
            <a:ext cx="8244000" cy="310000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lIns="228600" tIns="182880" rIns="228600" bIns="182880"/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package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dev.ericdeandrea.docling.ai.ingestion.extraction;</a:t>
            </a: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public class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TikaExtractor {</a:t>
            </a: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private final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 ApacheTikaDocumentParser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parser =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new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 ApacheTikaDocumentParser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();</a:t>
            </a:r>
          </a:p>
          <a:p>
            <a:pPr>
              <a:lnSpc>
                <a:spcPct val="145000"/>
              </a:lnSpc>
            </a:pPr>
            <a:endParaRPr lang="en-US" sz="600"/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public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ExtractionResult extract(Path documentPath) {</a:t>
            </a: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return new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ExtractionResult(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FileSystemDocumentLoader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.loadDocument(documentPath, parser));</a:t>
            </a: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}</a:t>
            </a:r>
          </a:p>
          <a:p>
            <a:pPr>
              <a:lnSpc>
                <a:spcPct val="14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0000" y="4150000"/>
            <a:ext cx="8244000" cy="330000"/>
          </a:xfrm>
        </p:spPr>
        <p:txBody>
          <a:bodyPr/>
          <a:lstStyle/>
          <a:p>
            <a:r>
              <a:rPr lang="en-US" sz="1050" i="1">
                <a:solidFill>
                  <a:srgbClr val="595959"/>
                </a:solidFill>
              </a:rPr>
              <a:t>The extraction logic, imports omitted. No configuration, no tuning, no reason to suspect it's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A: The Chunker</a:t>
            </a:r>
          </a:p>
        </p:txBody>
      </p:sp>
      <p:sp>
        <p:nvSpPr>
          <p:cNvPr id="3" name="CodeBlock"/>
          <p:cNvSpPr/>
          <p:nvPr/>
        </p:nvSpPr>
        <p:spPr>
          <a:xfrm>
            <a:off x="450000" y="900000"/>
            <a:ext cx="8244000" cy="319575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lIns="228600" tIns="182880" rIns="228600" bIns="182880"/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lang="en-US" sz="1050" dirty="0">
                <a:solidFill>
                  <a:srgbClr val="4285F4"/>
                </a:solidFill>
                <a:latin typeface="Courier New"/>
              </a:rPr>
              <a:t>package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dev.ericdeandrea.docling.ai.ingestion.chunking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;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4285F4"/>
                </a:solidFill>
                <a:latin typeface="Courier New"/>
              </a:rPr>
              <a:t>public class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NaiveChunker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{</a:t>
            </a:r>
          </a:p>
          <a:p>
            <a:pPr>
              <a:lnSpc>
                <a:spcPct val="125000"/>
              </a:lnSpc>
            </a:pPr>
            <a:endParaRPr lang="en-US" sz="60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1050" dirty="0">
                <a:solidFill>
                  <a:srgbClr val="4285F4"/>
                </a:solidFill>
                <a:latin typeface="Courier New"/>
              </a:rPr>
              <a:t>public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List&lt;</a:t>
            </a:r>
            <a:r>
              <a:rPr lang="en-US" sz="1050" dirty="0" err="1">
                <a:solidFill>
                  <a:srgbClr val="7CB342"/>
                </a:solidFill>
                <a:latin typeface="Courier New"/>
              </a:rPr>
              <a:t>TextSegment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&gt; chunk(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ExtractionResult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result, Mode mode) {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 dirty="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splitter = </a:t>
            </a:r>
            <a:r>
              <a:rPr lang="en-US" sz="1050" dirty="0">
                <a:solidFill>
                  <a:srgbClr val="4285F4"/>
                </a:solidFill>
                <a:latin typeface="Courier New"/>
              </a:rPr>
              <a:t>new</a:t>
            </a:r>
            <a:r>
              <a:rPr lang="en-US" sz="1050" dirty="0">
                <a:solidFill>
                  <a:srgbClr val="7CB342"/>
                </a:solidFill>
                <a:latin typeface="Courier New"/>
              </a:rPr>
              <a:t> </a:t>
            </a:r>
            <a:r>
              <a:rPr lang="en-US" sz="1050" dirty="0" err="1">
                <a:solidFill>
                  <a:srgbClr val="7CB342"/>
                </a:solidFill>
                <a:latin typeface="Courier New"/>
              </a:rPr>
              <a:t>DocumentBySentenceSplitter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maxTokens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, overlap);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 dirty="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segments =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splitter.split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result.document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());</a:t>
            </a:r>
          </a:p>
          <a:p>
            <a:pPr>
              <a:lnSpc>
                <a:spcPct val="125000"/>
              </a:lnSpc>
            </a:pPr>
            <a:endParaRPr lang="en-US" sz="600" dirty="0"/>
          </a:p>
          <a:p>
            <a:pPr>
              <a:lnSpc>
                <a:spcPct val="125000"/>
              </a:lnSpc>
            </a:pPr>
            <a:r>
              <a:rPr lang="en-US" sz="950" b="1" i="1" dirty="0">
                <a:solidFill>
                  <a:srgbClr val="757575"/>
                </a:solidFill>
                <a:latin typeface="Courier New"/>
              </a:rPr>
              <a:t>    // 2 sentences before + after, joined as "</a:t>
            </a:r>
            <a:r>
              <a:rPr lang="en-US" sz="950" b="1" i="1" dirty="0" err="1">
                <a:solidFill>
                  <a:srgbClr val="757575"/>
                </a:solidFill>
                <a:latin typeface="Courier New"/>
              </a:rPr>
              <a:t>extended_content</a:t>
            </a:r>
            <a:r>
              <a:rPr lang="en-US" sz="950" b="1" i="1" dirty="0">
                <a:solidFill>
                  <a:srgbClr val="757575"/>
                </a:solidFill>
                <a:latin typeface="Courier New"/>
              </a:rPr>
              <a:t>" metadata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enrichWithSurroundingContext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(segments, 2, 2);</a:t>
            </a:r>
          </a:p>
          <a:p>
            <a:pPr>
              <a:lnSpc>
                <a:spcPct val="125000"/>
              </a:lnSpc>
            </a:pPr>
            <a:endParaRPr lang="en-US" sz="600" dirty="0"/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 dirty="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segments.stream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()</a:t>
            </a:r>
          </a:p>
          <a:p>
            <a:pPr>
              <a:lnSpc>
                <a:spcPct val="125000"/>
              </a:lnSpc>
            </a:pPr>
            <a:r>
              <a:rPr lang="en-US" sz="950" b="1" i="1" dirty="0">
                <a:solidFill>
                  <a:srgbClr val="757575"/>
                </a:solidFill>
                <a:latin typeface="Courier New"/>
              </a:rPr>
              <a:t>      // </a:t>
            </a:r>
            <a:r>
              <a:rPr lang="en-US" sz="950" b="1" i="1" dirty="0" err="1">
                <a:solidFill>
                  <a:srgbClr val="757575"/>
                </a:solidFill>
                <a:latin typeface="Courier New"/>
              </a:rPr>
              <a:t>attachMetadata</a:t>
            </a:r>
            <a:r>
              <a:rPr lang="en-US" sz="950" b="1" i="1" dirty="0">
                <a:solidFill>
                  <a:srgbClr val="757575"/>
                </a:solidFill>
                <a:latin typeface="Courier New"/>
              </a:rPr>
              <a:t>() tries to attach provenance, but there isn't any here.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  .map(segment -&gt; 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attachMetadata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(segment, result, mode))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    .</a:t>
            </a:r>
            <a:r>
              <a:rPr lang="en-US" sz="1050" dirty="0" err="1">
                <a:solidFill>
                  <a:srgbClr val="212121"/>
                </a:solidFill>
                <a:latin typeface="Courier New"/>
              </a:rPr>
              <a:t>toList</a:t>
            </a:r>
            <a:r>
              <a:rPr lang="en-US" sz="1050" dirty="0">
                <a:solidFill>
                  <a:srgbClr val="212121"/>
                </a:solidFill>
                <a:latin typeface="Courier New"/>
              </a:rPr>
              <a:t>();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  }</a:t>
            </a:r>
          </a:p>
          <a:p>
            <a:pPr>
              <a:lnSpc>
                <a:spcPct val="125000"/>
              </a:lnSpc>
            </a:pPr>
            <a:r>
              <a:rPr lang="en-US" sz="1050" dirty="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</a:rPr>
              <a:t>Retrieval: the boring part, on purpose</a:t>
            </a:r>
          </a:p>
        </p:txBody>
      </p:sp>
      <p:sp>
        <p:nvSpPr>
          <p:cNvPr id="3" name="CodeBlock"/>
          <p:cNvSpPr/>
          <p:nvPr/>
        </p:nvSpPr>
        <p:spPr>
          <a:xfrm>
            <a:off x="450000" y="731520"/>
            <a:ext cx="8244000" cy="384048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lIns="228600" tIns="182880" rIns="228600" bIns="182880"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package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dev.ericdeandrea.docling.ai.rag;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final class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ExtendedContentRetrievalAugmentorBuilder {</a:t>
            </a:r>
          </a:p>
          <a:p>
            <a:pPr>
              <a:lnSpc>
                <a:spcPct val="100000"/>
              </a:lnSpc>
            </a:pPr>
            <a:endParaRPr lang="en-US" sz="600"/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static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RetrievalAugmentor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build(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EmbeddingStore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&lt;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TextSegment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&gt; embeddingStore,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                          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EmbeddingModel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embeddingModel, DemoConfig config) {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retriever = 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EmbeddingStoreContentRetriever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.builder()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.embeddingStore(embeddingStore)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.embeddingModel(embeddingModel)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.maxResults(config.rag().topK())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.build();</a:t>
            </a:r>
          </a:p>
          <a:p>
            <a:pPr>
              <a:lnSpc>
                <a:spcPct val="100000"/>
              </a:lnSpc>
            </a:pPr>
            <a:endParaRPr lang="en-US" sz="500"/>
          </a:p>
          <a:p>
            <a:pPr>
              <a:lnSpc>
                <a:spcPct val="100000"/>
              </a:lnSpc>
            </a:pPr>
            <a:r>
              <a:rPr lang="en-US" sz="1050" b="1" i="1">
                <a:solidFill>
                  <a:srgbClr val="757575"/>
                </a:solidFill>
                <a:latin typeface="Courier New"/>
              </a:rPr>
              <a:t>    // This is the line that surfaces the chunker's "extended_content"</a:t>
            </a:r>
          </a:p>
          <a:p>
            <a:pPr>
              <a:lnSpc>
                <a:spcPct val="100000"/>
              </a:lnSpc>
            </a:pPr>
            <a:r>
              <a:rPr lang="en-US" sz="1050" b="1" i="1">
                <a:solidFill>
                  <a:srgbClr val="757575"/>
                </a:solidFill>
                <a:latin typeface="Courier New"/>
              </a:rPr>
              <a:t>    // enrichment to the LLM. Everything else here is default wiring.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contentInjector = 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DefaultContentInjector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.builder()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.metadataKeysToInclude(List.of(</a:t>
            </a:r>
            <a:r>
              <a:rPr lang="en-US" sz="1050">
                <a:solidFill>
                  <a:srgbClr val="C0392B"/>
                </a:solidFill>
                <a:latin typeface="Courier New"/>
              </a:rPr>
              <a:t>"extended_content"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))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.build();</a:t>
            </a:r>
          </a:p>
          <a:p>
            <a:pPr>
              <a:lnSpc>
                <a:spcPct val="100000"/>
              </a:lnSpc>
            </a:pPr>
            <a:endParaRPr lang="en-US" sz="500"/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 DefaultRetrievalAugmentor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.builder()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.contentRetriever(retriever)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.contentInjector(contentInjector)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.build();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0000" y="4617720"/>
            <a:ext cx="8244000" cy="500000"/>
          </a:xfrm>
        </p:spPr>
        <p:txBody>
          <a:bodyPr/>
          <a:lstStyle/>
          <a:p>
            <a:r>
              <a:rPr lang="en-US" sz="110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Same for all three modes. Mostly LangChain4j's own builder vocabulary, barely any of it is ours.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Phrase"/>
          <p:cNvSpPr txBox="1"/>
          <p:nvPr/>
        </p:nvSpPr>
        <p:spPr>
          <a:xfrm>
            <a:off x="457200" y="731750"/>
            <a:ext cx="8229600" cy="900000"/>
          </a:xfrm>
        </p:spPr>
        <p:txBody>
          <a:bodyPr anchor="ctr"/>
          <a:lstStyle/>
          <a:p>
            <a:pPr algn="ctr"/>
            <a:r>
              <a:rPr lang="en-US" sz="3600" b="1" i="1">
                <a:solidFill>
                  <a:srgbClr val="FFFFFF"/>
                </a:solidFill>
              </a:rPr>
              <a:t>“vegetative electron microscopy”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700000" y="1831750"/>
            <a:ext cx="7744000" cy="2400000"/>
          </a:xfrm>
        </p:spPr>
        <p:txBody>
          <a:bodyPr/>
          <a:lstStyle/>
          <a:p>
            <a:pPr algn="ctr"/>
            <a:r>
              <a:rPr lang="en-US" sz="1600">
                <a:solidFill>
                  <a:srgbClr val="EEEEEE"/>
                </a:solidFill>
              </a:rPr>
              <a:t>A phrase that means nothing. It's appeared in dozens of papers anyway.</a:t>
            </a:r>
          </a:p>
          <a:p>
            <a:endParaRPr lang="en-US" sz="800"/>
          </a:p>
          <a:p>
            <a:pPr algn="ctr"/>
            <a:r>
              <a:rPr lang="en-US" sz="1600">
                <a:solidFill>
                  <a:srgbClr val="EEEEEE"/>
                </a:solidFill>
              </a:rPr>
              <a:t>It's now used as a fingerprint by paper-mill screening tools.</a:t>
            </a:r>
          </a:p>
          <a:p>
            <a:endParaRPr lang="en-US" sz="800"/>
          </a:p>
          <a:p>
            <a:pPr algn="ctr"/>
            <a:r>
              <a:rPr lang="en-US" sz="1400" i="1">
                <a:solidFill>
                  <a:srgbClr val="4285F4"/>
                </a:solidFill>
              </a:rPr>
              <a:t>One theory, not confirmed: a column-misread spliced two phrases together.</a:t>
            </a:r>
          </a:p>
          <a:p>
            <a:endParaRPr lang="en-US" sz="800"/>
          </a:p>
          <a:p>
            <a:pPr algn="ctr"/>
            <a:r>
              <a:rPr lang="en-US" sz="1600" b="1">
                <a:solidFill>
                  <a:srgbClr val="FFFFFF"/>
                </a:solidFill>
              </a:rPr>
              <a:t>Reading order isn't just a demo inconvenience. It's already real.</a:t>
            </a:r>
          </a:p>
        </p:txBody>
      </p:sp>
      <p:sp>
        <p:nvSpPr>
          <p:cNvPr id="5" name="Link"/>
          <p:cNvSpPr txBox="1"/>
          <p:nvPr/>
        </p:nvSpPr>
        <p:spPr>
          <a:xfrm>
            <a:off x="700000" y="4111750"/>
            <a:ext cx="7744000" cy="300000"/>
          </a:xfrm>
        </p:spPr>
        <p:txBody>
          <a:bodyPr/>
          <a:lstStyle/>
          <a:p>
            <a:pPr algn="ctr"/>
            <a:r>
              <a:rPr lang="en-US" sz="1100" u="sng">
                <a:solidFill>
                  <a:srgbClr val="80C0FF"/>
                </a:solidFill>
                <a:hlinkClick r:id="rId3"/>
              </a:rPr>
              <a:t>retractionwatch.com/2025/02/10/vegetative-electron-microscopy-fingerprint-paper-mill</a:t>
            </a:r>
          </a:p>
        </p:txBody>
      </p:sp>
      <p:pic>
        <p:nvPicPr>
          <p:cNvPr id="6" name="RetractionWatchQR"/>
          <p:cNvPicPr/>
          <p:nvPr/>
        </p:nvPicPr>
        <p:blipFill>
          <a:blip r:embed="rId4"/>
          <a:stretch>
            <a:fillRect/>
          </a:stretch>
        </p:blipFill>
        <p:spPr>
          <a:xfrm>
            <a:off x="4272000" y="3411750"/>
            <a:ext cx="600000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Why not just a bigger model?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400000"/>
            <a:ext cx="4110300" cy="14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Cost</a:t>
            </a:r>
          </a:p>
          <a:p>
            <a:r>
              <a:rPr lang="en-US" sz="1400"/>
              <a:t>Running a vision-language model over every page doesn't scale the way a purpose-built extraction step does.</a:t>
            </a:r>
          </a:p>
        </p:txBody>
      </p:sp>
      <p:sp>
        <p:nvSpPr>
          <p:cNvPr id="11" name="Card2"/>
          <p:cNvSpPr/>
          <p:nvPr/>
        </p:nvSpPr>
        <p:spPr>
          <a:xfrm>
            <a:off x="4722000" y="1400000"/>
            <a:ext cx="4110300" cy="14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Latency</a:t>
            </a:r>
          </a:p>
          <a:p>
            <a:r>
              <a:rPr lang="en-US" sz="1400"/>
              <a:t>Big vision models are slow. Fine for a demo, not fine for a pipeline processing real volume.</a:t>
            </a:r>
          </a:p>
        </p:txBody>
      </p:sp>
      <p:sp>
        <p:nvSpPr>
          <p:cNvPr id="12" name="Card3"/>
          <p:cNvSpPr/>
          <p:nvPr/>
        </p:nvSpPr>
        <p:spPr>
          <a:xfrm>
            <a:off x="311700" y="3150000"/>
            <a:ext cx="4110300" cy="14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Capacity</a:t>
            </a:r>
          </a:p>
          <a:p>
            <a:r>
              <a:rPr lang="en-US" sz="1400"/>
              <a:t>Throwing the whole document at a bigger model just moves the chunking problem earlier. It doesn't remove it.</a:t>
            </a:r>
          </a:p>
        </p:txBody>
      </p:sp>
      <p:sp>
        <p:nvSpPr>
          <p:cNvPr id="13" name="Card4"/>
          <p:cNvSpPr/>
          <p:nvPr/>
        </p:nvSpPr>
        <p:spPr>
          <a:xfrm>
            <a:off x="4722000" y="3150000"/>
            <a:ext cx="4110300" cy="145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Privacy</a:t>
            </a:r>
          </a:p>
          <a:p>
            <a:r>
              <a:rPr lang="en-US" sz="1400"/>
              <a:t>A lot of enterprises can't send proprietary documents to a third-party API. On-prem isn't optional for them.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/>
              <a:t>Act 2: Mode B</a:t>
            </a:r>
          </a:p>
          <a:p>
            <a:pPr marL="0" indent="0" algn="ctr">
              <a:buNone/>
            </a:pPr>
            <a:r>
              <a:rPr lang="en-US" sz="2000" b="0" i="1"/>
              <a:t>Enter Docling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Meet Docling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150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Open source</a:t>
            </a:r>
          </a:p>
          <a:p>
            <a:pPr algn="ctr"/>
            <a:r>
              <a:rPr lang="en-US" sz="1150"/>
              <a:t>MIT license, Linux Foundation project</a:t>
            </a:r>
          </a:p>
        </p:txBody>
      </p:sp>
      <p:sp>
        <p:nvSpPr>
          <p:cNvPr id="11" name="Card2"/>
          <p:cNvSpPr/>
          <p:nvPr/>
        </p:nvSpPr>
        <p:spPr>
          <a:xfrm>
            <a:off x="3235200" y="1150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Document intelligence</a:t>
            </a:r>
          </a:p>
          <a:p>
            <a:pPr algn="ctr"/>
            <a:r>
              <a:rPr lang="en-US" sz="1150"/>
              <a:t>Advanced, cost-efficient</a:t>
            </a:r>
          </a:p>
        </p:txBody>
      </p:sp>
      <p:sp>
        <p:nvSpPr>
          <p:cNvPr id="12" name="Card3"/>
          <p:cNvSpPr/>
          <p:nvPr/>
        </p:nvSpPr>
        <p:spPr>
          <a:xfrm>
            <a:off x="6158700" y="1150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Multi-format</a:t>
            </a:r>
          </a:p>
          <a:p>
            <a:pPr algn="ctr"/>
            <a:r>
              <a:rPr lang="en-US" sz="1150"/>
              <a:t>PDF, Word, PowerPoint, HTML, and more</a:t>
            </a:r>
          </a:p>
        </p:txBody>
      </p:sp>
      <p:sp>
        <p:nvSpPr>
          <p:cNvPr id="13" name="Card4"/>
          <p:cNvSpPr/>
          <p:nvPr/>
        </p:nvSpPr>
        <p:spPr>
          <a:xfrm>
            <a:off x="311700" y="2675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Unified representation</a:t>
            </a:r>
          </a:p>
          <a:p>
            <a:pPr algn="ctr"/>
            <a:r>
              <a:rPr lang="en-US" sz="1150"/>
              <a:t>Rich, LLM-friendly</a:t>
            </a:r>
          </a:p>
        </p:txBody>
      </p:sp>
      <p:sp>
        <p:nvSpPr>
          <p:cNvPr id="14" name="Card5"/>
          <p:cNvSpPr/>
          <p:nvPr/>
        </p:nvSpPr>
        <p:spPr>
          <a:xfrm>
            <a:off x="3235200" y="2675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Privacy &amp; security</a:t>
            </a:r>
          </a:p>
          <a:p>
            <a:pPr algn="ctr"/>
            <a:r>
              <a:rPr lang="en-US" sz="1150"/>
              <a:t>Self-host it, or use the managed service</a:t>
            </a:r>
          </a:p>
        </p:txBody>
      </p:sp>
      <p:sp>
        <p:nvSpPr>
          <p:cNvPr id="15" name="Card6"/>
          <p:cNvSpPr/>
          <p:nvPr/>
        </p:nvSpPr>
        <p:spPr>
          <a:xfrm>
            <a:off x="6158700" y="2675000"/>
            <a:ext cx="2673500" cy="1275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182880" tIns="137160" rIns="182880" bIns="137160" anchor="t"/>
          <a:lstStyle/>
          <a:p>
            <a:pPr algn="ctr"/>
            <a:r>
              <a:rPr lang="en-US" sz="1300" b="1">
                <a:solidFill>
                  <a:srgbClr val="4285F4"/>
                </a:solidFill>
                <a:latin typeface="Kalam"/>
              </a:rPr>
              <a:t>Plug-and-play</a:t>
            </a:r>
          </a:p>
          <a:p>
            <a:pPr algn="ctr"/>
            <a:r>
              <a:rPr lang="en-US" sz="1150"/>
              <a:t>For building apps &amp; agents</a:t>
            </a:r>
          </a:p>
        </p:txBody>
      </p:sp>
      <p:pic>
        <p:nvPicPr>
          <p:cNvPr id="20" name="Docling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420000" y="4700000"/>
            <a:ext cx="380000" cy="380000"/>
          </a:xfrm>
          <a:prstGeom prst="rect">
            <a:avLst/>
          </a:prstGeom>
        </p:spPr>
      </p:pic>
      <p:pic>
        <p:nvPicPr>
          <p:cNvPr id="21" name="DoclingQR"/>
          <p:cNvPicPr/>
          <p:nvPr/>
        </p:nvPicPr>
        <p:blipFill>
          <a:blip r:embed="rId4"/>
          <a:stretch>
            <a:fillRect/>
          </a:stretch>
        </p:blipFill>
        <p:spPr>
          <a:xfrm>
            <a:off x="850000" y="4700000"/>
            <a:ext cx="380000" cy="380000"/>
          </a:xfrm>
          <a:prstGeom prst="rect">
            <a:avLst/>
          </a:prstGeom>
        </p:spPr>
      </p:pic>
      <p:sp>
        <p:nvSpPr>
          <p:cNvPr id="22" name="DoclingURL"/>
          <p:cNvSpPr txBox="1"/>
          <p:nvPr/>
        </p:nvSpPr>
        <p:spPr>
          <a:xfrm>
            <a:off x="1280000" y="4790000"/>
            <a:ext cx="2200000" cy="300000"/>
          </a:xfrm>
        </p:spPr>
        <p:txBody>
          <a:bodyPr/>
          <a:lstStyle/>
          <a:p>
            <a:r>
              <a:rPr lang="en-US" sz="1000" u="sng" dirty="0">
                <a:solidFill>
                  <a:srgbClr val="4285F4"/>
                </a:solidFill>
                <a:hlinkClick r:id="rId5"/>
              </a:rPr>
              <a:t>docling.ai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clingLogoBi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212" y="1143000"/>
            <a:ext cx="2971097" cy="3017520"/>
          </a:xfrm>
          <a:prstGeom prst="rect">
            <a:avLst/>
          </a:prstGeom>
        </p:spPr>
      </p:pic>
      <p:pic>
        <p:nvPicPr>
          <p:cNvPr id="3" name="PythonLogoBi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290" y="1143000"/>
            <a:ext cx="29879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DoclingJava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2651760" y="566928"/>
            <a:ext cx="3840480" cy="3840480"/>
          </a:xfrm>
          <a:prstGeom prst="rect">
            <a:avLst/>
          </a:prstGeom>
        </p:spPr>
      </p:pic>
      <p:pic>
        <p:nvPicPr>
          <p:cNvPr id="24" name="DoclingJavaQR"/>
          <p:cNvPicPr/>
          <p:nvPr/>
        </p:nvPicPr>
        <p:blipFill>
          <a:blip r:embed="rId4"/>
          <a:stretch>
            <a:fillRect/>
          </a:stretch>
        </p:blipFill>
        <p:spPr>
          <a:xfrm>
            <a:off x="850000" y="4700000"/>
            <a:ext cx="380000" cy="380000"/>
          </a:xfrm>
          <a:prstGeom prst="rect">
            <a:avLst/>
          </a:prstGeom>
        </p:spPr>
      </p:pic>
      <p:sp>
        <p:nvSpPr>
          <p:cNvPr id="25" name="DoclingJavaURL"/>
          <p:cNvSpPr txBox="1"/>
          <p:nvPr/>
        </p:nvSpPr>
        <p:spPr>
          <a:xfrm>
            <a:off x="1280000" y="4790000"/>
            <a:ext cx="4300000" cy="300000"/>
          </a:xfrm>
        </p:spPr>
        <p:txBody>
          <a:bodyPr/>
          <a:lstStyle/>
          <a:p>
            <a:r>
              <a:rPr lang="en-US" sz="1000" u="sng">
                <a:solidFill>
                  <a:srgbClr val="4285F4"/>
                </a:solidFill>
                <a:hlinkClick r:id="rId5"/>
              </a:rPr>
              <a:t>docling-project.github.io/docling-java</a:t>
            </a:r>
          </a:p>
        </p:txBody>
      </p:sp>
      <p:pic>
        <p:nvPicPr>
          <p:cNvPr id="26" name="DoclingJavaFooterLogo"/>
          <p:cNvPicPr/>
          <p:nvPr/>
        </p:nvPicPr>
        <p:blipFill>
          <a:blip r:embed="rId3"/>
          <a:stretch>
            <a:fillRect/>
          </a:stretch>
        </p:blipFill>
        <p:spPr>
          <a:xfrm>
            <a:off x="420000" y="4700000"/>
            <a:ext cx="380000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Mode B: One thing changes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Extract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Docling instead of Tika: structured extraction, layout &amp; table aware.</a:t>
            </a:r>
          </a:p>
        </p:txBody>
      </p:sp>
      <p:sp>
        <p:nvSpPr>
          <p:cNvPr id="11" name="Card2"/>
          <p:cNvSpPr/>
          <p:nvPr/>
        </p:nvSpPr>
        <p:spPr>
          <a:xfrm>
            <a:off x="47220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Chunk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The exact same sentence splitter as Mode A. Unchanged. On purpose.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311700" y="3150000"/>
            <a:ext cx="8520600" cy="600000"/>
          </a:xfrm>
        </p:spPr>
        <p:txBody>
          <a:bodyPr/>
          <a:lstStyle/>
          <a:p>
            <a:r>
              <a:rPr lang="en-US" sz="1100" i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Everything downstream of extraction (embedding model, vector store, retrieval, prompt, LLM) stays identical to Mode 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Mode B: One thing changes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Extract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Docling instead of Tika: structured extraction, layout &amp; table aware.</a:t>
            </a:r>
          </a:p>
        </p:txBody>
      </p:sp>
      <p:sp>
        <p:nvSpPr>
          <p:cNvPr id="11" name="Card2"/>
          <p:cNvSpPr/>
          <p:nvPr/>
        </p:nvSpPr>
        <p:spPr>
          <a:xfrm>
            <a:off x="4722000" y="1300000"/>
            <a:ext cx="4110300" cy="16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 anchor="ctr"/>
          <a:lstStyle/>
          <a:p>
            <a:r>
              <a:rPr lang="en-US" sz="17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Chunk</a:t>
            </a:r>
          </a:p>
          <a:p>
            <a:r>
              <a:rPr lang="en-US" sz="1400">
                <a:latin typeface="Arial"/>
                <a:ea typeface="Arial"/>
                <a:cs typeface="Arial"/>
                <a:sym typeface="Arial"/>
              </a:rPr>
              <a:t>The exact same sentence splitter as Mode A. Unchanged. On purpose.</a:t>
            </a:r>
          </a:p>
        </p:txBody>
      </p:sp>
      <p:sp>
        <p:nvSpPr>
          <p:cNvPr id="12" name="Caption"/>
          <p:cNvSpPr txBox="1"/>
          <p:nvPr/>
        </p:nvSpPr>
        <p:spPr>
          <a:xfrm>
            <a:off x="311700" y="3150000"/>
            <a:ext cx="8520600" cy="500000"/>
          </a:xfrm>
        </p:spPr>
        <p:txBody>
          <a:bodyPr/>
          <a:lstStyle/>
          <a:p>
            <a:r>
              <a:rPr lang="en-US" sz="1100" i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Everything downstream of extraction (embedding model, vector store, retrieval, prompt, LLM) stays identical to Mode A.</a:t>
            </a:r>
          </a:p>
        </p:txBody>
      </p:sp>
      <p:sp>
        <p:nvSpPr>
          <p:cNvPr id="13" name="Payoff"/>
          <p:cNvSpPr txBox="1"/>
          <p:nvPr/>
        </p:nvSpPr>
        <p:spPr>
          <a:xfrm>
            <a:off x="311700" y="3650000"/>
            <a:ext cx="8520600" cy="700000"/>
          </a:xfrm>
        </p:spPr>
        <p:txBody>
          <a:bodyPr/>
          <a:lstStyle/>
          <a:p>
            <a:r>
              <a:rPr lang="en-US" sz="1800" b="1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If the answer changes, extraction is the only thing that could have caused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“Who wrote the paper?” again</a:t>
            </a:r>
          </a:p>
        </p:txBody>
      </p:sp>
      <p:sp>
        <p:nvSpPr>
          <p:cNvPr id="3" name="LabelA"/>
          <p:cNvSpPr txBox="1"/>
          <p:nvPr/>
        </p:nvSpPr>
        <p:spPr>
          <a:xfrm>
            <a:off x="450000" y="780000"/>
            <a:ext cx="3947000" cy="350000"/>
          </a:xfrm>
        </p:spPr>
        <p:txBody>
          <a:bodyPr/>
          <a:lstStyle/>
          <a:p>
            <a:r>
              <a:rPr lang="en-US" sz="14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A (Tika)</a:t>
            </a:r>
          </a:p>
        </p:txBody>
      </p:sp>
      <p:sp>
        <p:nvSpPr>
          <p:cNvPr id="4" name="LabelB"/>
          <p:cNvSpPr txBox="1"/>
          <p:nvPr/>
        </p:nvSpPr>
        <p:spPr>
          <a:xfrm>
            <a:off x="4747000" y="780000"/>
            <a:ext cx="3947000" cy="350000"/>
          </a:xfrm>
        </p:spPr>
        <p:txBody>
          <a:bodyPr/>
          <a:lstStyle/>
          <a:p>
            <a:r>
              <a:rPr lang="en-US" sz="14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B (Docling)</a:t>
            </a:r>
          </a:p>
        </p:txBody>
      </p:sp>
      <p:sp>
        <p:nvSpPr>
          <p:cNvPr id="5" name="PanelA"/>
          <p:cNvSpPr/>
          <p:nvPr/>
        </p:nvSpPr>
        <p:spPr>
          <a:xfrm>
            <a:off x="450000" y="1180000"/>
            <a:ext cx="3947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lIns="182880" tIns="182880" rIns="182880" bIns="182880"/>
          <a:lstStyle/>
          <a:p>
            <a:r>
              <a:rPr lang="en-US" sz="1300">
                <a:solidFill>
                  <a:srgbClr val="212121"/>
                </a:solidFill>
              </a:rPr>
              <a:t>“...the paper titled </a:t>
            </a:r>
            <a:r>
              <a:rPr lang="en-US" sz="1300" b="1">
                <a:solidFill>
                  <a:srgbClr val="C0392B"/>
                </a:solidFill>
              </a:rPr>
              <a:t>“Segmentation for document layout analysis: not dead yet”</a:t>
            </a:r>
            <a:r>
              <a:rPr lang="en-US" sz="1300">
                <a:solidFill>
                  <a:srgbClr val="212121"/>
                </a:solidFill>
              </a:rPr>
              <a:t> was written by Logan Markewich, Hao Zhang, Yubin Xing, Navid Lambert-Shirzad, Jiang Zhexin, Roy Lee, Zhi Li, and Seok-Bum Ko.”</a:t>
            </a:r>
          </a:p>
          <a:p>
            <a:endParaRPr lang="en-US" sz="600"/>
          </a:p>
          <a:p>
            <a:r>
              <a:rPr lang="en-US" sz="1200" b="1">
                <a:solidFill>
                  <a:srgbClr val="C0392B"/>
                </a:solidFill>
                <a:latin typeface="Kalam"/>
                <a:ea typeface="Kalam"/>
                <a:cs typeface="Kalam"/>
                <a:sym typeface="Kalam"/>
              </a:rPr>
              <a:t>Wrong. Still.</a:t>
            </a:r>
          </a:p>
        </p:txBody>
      </p:sp>
      <p:sp>
        <p:nvSpPr>
          <p:cNvPr id="6" name="PanelB"/>
          <p:cNvSpPr/>
          <p:nvPr/>
        </p:nvSpPr>
        <p:spPr>
          <a:xfrm>
            <a:off x="4747000" y="1180000"/>
            <a:ext cx="3947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182880" tIns="182880" rIns="182880" bIns="182880"/>
          <a:lstStyle/>
          <a:p>
            <a:r>
              <a:rPr lang="en-US" sz="1300" dirty="0">
                <a:solidFill>
                  <a:srgbClr val="212121"/>
                </a:solidFill>
              </a:rPr>
              <a:t>“...the paper “</a:t>
            </a:r>
            <a:r>
              <a:rPr lang="en-US" sz="1300" dirty="0" err="1">
                <a:solidFill>
                  <a:srgbClr val="212121"/>
                </a:solidFill>
              </a:rPr>
              <a:t>DocLayNet</a:t>
            </a:r>
            <a:r>
              <a:rPr lang="en-US" sz="1300" dirty="0">
                <a:solidFill>
                  <a:srgbClr val="212121"/>
                </a:solidFill>
              </a:rPr>
              <a:t>: A Large Human-Annotated Dataset for Document-Layout Analysis” was written by: Birgit </a:t>
            </a:r>
            <a:r>
              <a:rPr lang="en-US" sz="1300" dirty="0" err="1">
                <a:solidFill>
                  <a:srgbClr val="212121"/>
                </a:solidFill>
              </a:rPr>
              <a:t>Pfitzmann</a:t>
            </a:r>
            <a:r>
              <a:rPr lang="en-US" sz="1300" dirty="0">
                <a:solidFill>
                  <a:srgbClr val="212121"/>
                </a:solidFill>
              </a:rPr>
              <a:t>, Christoph Auer, Ahmed S. Nassar, Michele Dolfi, and Peter Staar”</a:t>
            </a:r>
          </a:p>
          <a:p>
            <a:endParaRPr lang="en-US" sz="600" dirty="0"/>
          </a:p>
          <a:p>
            <a:r>
              <a:rPr lang="en-US" sz="1150" i="1" dirty="0">
                <a:solidFill>
                  <a:srgbClr val="595959"/>
                </a:solidFill>
              </a:rPr>
              <a:t>...then confirms it by walking through every author's IBM Research </a:t>
            </a:r>
            <a:r>
              <a:rPr lang="en-US" sz="1150" i="1" dirty="0" err="1">
                <a:solidFill>
                  <a:srgbClr val="595959"/>
                </a:solidFill>
              </a:rPr>
              <a:t>Rueschlikon</a:t>
            </a:r>
            <a:r>
              <a:rPr lang="en-US" sz="1150" i="1" dirty="0">
                <a:solidFill>
                  <a:srgbClr val="595959"/>
                </a:solidFill>
              </a:rPr>
              <a:t> address and email from the extended-content block, plus the arXiv:2206.01062v1 metadata.</a:t>
            </a:r>
          </a:p>
          <a:p>
            <a:endParaRPr lang="en-US" sz="500" dirty="0"/>
          </a:p>
          <a:p>
            <a:r>
              <a:rPr lang="en-US" sz="1400" b="1" dirty="0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Correct. Verbose.</a:t>
            </a:r>
          </a:p>
        </p:txBody>
      </p:sp>
      <p:sp>
        <p:nvSpPr>
          <p:cNvPr id="7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B: The Extractor Swap</a:t>
            </a:r>
          </a:p>
        </p:txBody>
      </p:sp>
      <p:sp>
        <p:nvSpPr>
          <p:cNvPr id="3" name="CodeBlock"/>
          <p:cNvSpPr/>
          <p:nvPr/>
        </p:nvSpPr>
        <p:spPr>
          <a:xfrm>
            <a:off x="450000" y="660000"/>
            <a:ext cx="8244000" cy="399000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lIns="228600" tIns="182880" rIns="228600" bIns="182880"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950" dirty="0">
                <a:solidFill>
                  <a:srgbClr val="4285F4"/>
                </a:solidFill>
                <a:latin typeface="Courier New"/>
              </a:rPr>
              <a:t>package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dev.ericdeandrea.docling.ai.ingestion.extraction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4285F4"/>
                </a:solidFill>
                <a:latin typeface="Courier New"/>
              </a:rPr>
              <a:t>public class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DoclingNaiveExtractor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{</a:t>
            </a:r>
          </a:p>
          <a:p>
            <a:pPr>
              <a:lnSpc>
                <a:spcPct val="100000"/>
              </a:lnSpc>
            </a:pPr>
            <a:endParaRPr lang="en-US" sz="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public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Uni&lt;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ExtractionResult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&gt; extract(Path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documentPath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) {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parser = </a:t>
            </a:r>
            <a:r>
              <a:rPr lang="en-US" sz="950" dirty="0" err="1">
                <a:solidFill>
                  <a:srgbClr val="7CB342"/>
                </a:solidFill>
                <a:latin typeface="Courier New"/>
              </a:rPr>
              <a:t>DoclingDocumentParser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.builder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doclingClient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4285F4"/>
                </a:solidFill>
                <a:latin typeface="Courier New"/>
              </a:rPr>
              <a:t>this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.doclingServeApi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documentRequest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(request)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.documentExtractor(response -&gt; {</a:t>
            </a:r>
          </a:p>
          <a:p>
            <a:pPr>
              <a:lnSpc>
                <a:spcPct val="100000"/>
              </a:lnSpc>
            </a:pPr>
            <a:r>
              <a:rPr lang="en-US" sz="850" b="1" i="1" dirty="0">
                <a:solidFill>
                  <a:srgbClr val="757575"/>
                </a:solidFill>
                <a:latin typeface="Courier New"/>
              </a:rPr>
              <a:t>          // Flattens the structured </a:t>
            </a:r>
            <a:r>
              <a:rPr lang="en-US" sz="850" b="1" i="1" dirty="0" err="1">
                <a:solidFill>
                  <a:srgbClr val="757575"/>
                </a:solidFill>
                <a:latin typeface="Courier New"/>
              </a:rPr>
              <a:t>DoclingDocument</a:t>
            </a:r>
            <a:r>
              <a:rPr lang="en-US" sz="850" b="1" i="1" dirty="0">
                <a:solidFill>
                  <a:srgbClr val="757575"/>
                </a:solidFill>
                <a:latin typeface="Courier New"/>
              </a:rPr>
              <a:t> into the full-text Document</a:t>
            </a:r>
          </a:p>
          <a:p>
            <a:pPr>
              <a:lnSpc>
                <a:spcPct val="100000"/>
              </a:lnSpc>
            </a:pPr>
            <a:r>
              <a:rPr lang="en-US" sz="850" b="1" i="1" dirty="0">
                <a:solidFill>
                  <a:srgbClr val="757575"/>
                </a:solidFill>
                <a:latin typeface="Courier New"/>
              </a:rPr>
              <a:t>          // The naive </a:t>
            </a:r>
            <a:r>
              <a:rPr lang="en-US" sz="850" b="1" i="1" dirty="0" err="1">
                <a:solidFill>
                  <a:srgbClr val="757575"/>
                </a:solidFill>
                <a:latin typeface="Courier New"/>
              </a:rPr>
              <a:t>chunker</a:t>
            </a:r>
            <a:r>
              <a:rPr lang="en-US" sz="850" b="1" i="1" dirty="0">
                <a:solidFill>
                  <a:srgbClr val="757575"/>
                </a:solidFill>
                <a:latin typeface="Courier New"/>
              </a:rPr>
              <a:t> sentence-splits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doclingDoc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=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response.getDocument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().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getJsonContent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doclingDocumentHolder.set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doclingDoc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</a:pPr>
            <a:endParaRPr lang="en-US" sz="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7CB342"/>
                </a:solidFill>
                <a:latin typeface="Courier New"/>
              </a:rPr>
              <a:t>Document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.from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buildFullText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doclingDoc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));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})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.build();</a:t>
            </a:r>
          </a:p>
          <a:p>
            <a:pPr>
              <a:lnSpc>
                <a:spcPct val="100000"/>
              </a:lnSpc>
            </a:pPr>
            <a:endParaRPr lang="en-US" sz="600" dirty="0"/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Uni.createFrom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completionStage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Unchecked.supplier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(() -&gt; {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in =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Files.newInputStream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documentPath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);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parser.parseAsync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(in)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    .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whenComplete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((_, _) -&gt;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closeQuietly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(in));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}))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.map(document -&gt; </a:t>
            </a:r>
            <a:r>
              <a:rPr lang="en-US" sz="950" dirty="0">
                <a:solidFill>
                  <a:srgbClr val="4285F4"/>
                </a:solidFill>
                <a:latin typeface="Courier New"/>
              </a:rPr>
              <a:t>new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ExtractionResult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          document,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buildProvenance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doclingDocumentHolder.get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(), </a:t>
            </a:r>
            <a:r>
              <a:rPr lang="en-US" sz="950" dirty="0" err="1">
                <a:solidFill>
                  <a:srgbClr val="212121"/>
                </a:solidFill>
                <a:latin typeface="Courier New"/>
              </a:rPr>
              <a:t>document.text</a:t>
            </a:r>
            <a:r>
              <a:rPr lang="en-US" sz="950" dirty="0">
                <a:solidFill>
                  <a:srgbClr val="212121"/>
                </a:solidFill>
                <a:latin typeface="Courier New"/>
              </a:rPr>
              <a:t>())));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  }</a:t>
            </a:r>
          </a:p>
          <a:p>
            <a:pPr>
              <a:lnSpc>
                <a:spcPct val="100000"/>
              </a:lnSpc>
            </a:pPr>
            <a:r>
              <a:rPr lang="en-US" sz="950" dirty="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0000" y="4700000"/>
            <a:ext cx="8244000" cy="400000"/>
          </a:xfrm>
        </p:spPr>
        <p:txBody>
          <a:bodyPr/>
          <a:lstStyle/>
          <a:p>
            <a:r>
              <a:rPr lang="en-US" sz="110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buildFullText() and buildProvenance() do the real work here.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/>
              <a:t>Act 3: Mode C</a:t>
            </a:r>
          </a:p>
          <a:p>
            <a:pPr marL="0" indent="0" algn="ctr">
              <a:buNone/>
            </a:pPr>
            <a:r>
              <a:rPr lang="en-US" sz="2000" b="0" i="1"/>
              <a:t>How far this goes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Mode C: One more thing changes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300000"/>
            <a:ext cx="8520600" cy="95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 lIns="228600" tIns="137160" rIns="228600" bIns="137160" anchor="ctr"/>
          <a:lstStyle/>
          <a:p>
            <a:r>
              <a:rPr lang="en-US" sz="1500" b="1" dirty="0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Extract + chunk</a:t>
            </a:r>
          </a:p>
          <a:p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Docling's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hybrid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chunker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, in one server-side round trip. No local </a:t>
            </a:r>
            <a:r>
              <a:rPr lang="en-US" sz="1300" dirty="0" err="1">
                <a:latin typeface="Arial"/>
                <a:ea typeface="Arial"/>
                <a:cs typeface="Arial"/>
                <a:sym typeface="Arial"/>
              </a:rPr>
              <a:t>NaiveChunker</a:t>
            </a:r>
            <a:r>
              <a:rPr lang="en-US" sz="1300" dirty="0">
                <a:latin typeface="Arial"/>
                <a:ea typeface="Arial"/>
                <a:cs typeface="Arial"/>
                <a:sym typeface="Arial"/>
              </a:rPr>
              <a:t> at all this time.</a:t>
            </a:r>
          </a:p>
        </p:txBody>
      </p:sp>
      <p:sp>
        <p:nvSpPr>
          <p:cNvPr id="11" name="Card2"/>
          <p:cNvSpPr/>
          <p:nvPr/>
        </p:nvSpPr>
        <p:spPr>
          <a:xfrm>
            <a:off x="311700" y="2400000"/>
            <a:ext cx="8520600" cy="95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 lIns="228600" tIns="137160" rIns="228600" bIns="137160" anchor="ctr"/>
          <a:lstStyle/>
          <a:p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Table rows become facts</a:t>
            </a:r>
          </a:p>
          <a:p>
            <a:r>
              <a:rPr lang="en-US" sz="1300">
                <a:latin typeface="Arial"/>
                <a:ea typeface="Arial"/>
                <a:cs typeface="Arial"/>
                <a:sym typeface="Arial"/>
              </a:rPr>
              <a:t>Each cell keeps its row and column label attached, e.g. “All, FRCNN.R101 = 73.4”, so one chunk carries a complete fact instead of needing to correlate headers across chunks.</a:t>
            </a:r>
          </a:p>
        </p:txBody>
      </p:sp>
      <p:sp>
        <p:nvSpPr>
          <p:cNvPr id="12" name="Card3"/>
          <p:cNvSpPr/>
          <p:nvPr/>
        </p:nvSpPr>
        <p:spPr>
          <a:xfrm>
            <a:off x="311700" y="3500000"/>
            <a:ext cx="8520600" cy="95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txBody>
          <a:bodyPr lIns="228600" tIns="137160" rIns="228600" bIns="137160" anchor="ctr"/>
          <a:lstStyle/>
          <a:p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Orphaned figure text gets rescued</a:t>
            </a:r>
          </a:p>
          <a:p>
            <a:r>
              <a:rPr lang="en-US" sz="1300">
                <a:latin typeface="Arial"/>
                <a:ea typeface="Arial"/>
                <a:cs typeface="Arial"/>
                <a:sym typeface="Arial"/>
              </a:rPr>
              <a:t>Chart labels that would otherwise be silently dropped get collected into their own retrievable chunk.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Full circle: “Who wrote the paper?”</a:t>
            </a:r>
          </a:p>
        </p:txBody>
      </p:sp>
      <p:sp>
        <p:nvSpPr>
          <p:cNvPr id="3" name="LabelA"/>
          <p:cNvSpPr txBox="1"/>
          <p:nvPr/>
        </p:nvSpPr>
        <p:spPr>
          <a:xfrm>
            <a:off x="450000" y="780000"/>
            <a:ext cx="2648000" cy="350000"/>
          </a:xfrm>
        </p:spPr>
        <p:txBody>
          <a:bodyPr/>
          <a:lstStyle/>
          <a:p>
            <a:r>
              <a:rPr lang="en-US" sz="13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A</a:t>
            </a:r>
          </a:p>
        </p:txBody>
      </p:sp>
      <p:sp>
        <p:nvSpPr>
          <p:cNvPr id="4" name="LabelB"/>
          <p:cNvSpPr txBox="1"/>
          <p:nvPr/>
        </p:nvSpPr>
        <p:spPr>
          <a:xfrm>
            <a:off x="3248000" y="780000"/>
            <a:ext cx="2648000" cy="350000"/>
          </a:xfrm>
        </p:spPr>
        <p:txBody>
          <a:bodyPr/>
          <a:lstStyle/>
          <a:p>
            <a:r>
              <a:rPr lang="en-US" sz="13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B</a:t>
            </a:r>
          </a:p>
        </p:txBody>
      </p:sp>
      <p:sp>
        <p:nvSpPr>
          <p:cNvPr id="5" name="LabelC"/>
          <p:cNvSpPr txBox="1"/>
          <p:nvPr/>
        </p:nvSpPr>
        <p:spPr>
          <a:xfrm>
            <a:off x="6046000" y="780000"/>
            <a:ext cx="2648000" cy="350000"/>
          </a:xfrm>
        </p:spPr>
        <p:txBody>
          <a:bodyPr/>
          <a:lstStyle/>
          <a:p>
            <a:r>
              <a:rPr lang="en-US" sz="13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C</a:t>
            </a:r>
          </a:p>
        </p:txBody>
      </p:sp>
      <p:sp>
        <p:nvSpPr>
          <p:cNvPr id="6" name="PanelA"/>
          <p:cNvSpPr/>
          <p:nvPr/>
        </p:nvSpPr>
        <p:spPr>
          <a:xfrm>
            <a:off x="450000" y="1180000"/>
            <a:ext cx="2648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txBody>
          <a:bodyPr lIns="137160" tIns="137160" rIns="137160" bIns="137160"/>
          <a:lstStyle/>
          <a:p>
            <a:r>
              <a:rPr lang="en-US" sz="1100">
                <a:solidFill>
                  <a:srgbClr val="212121"/>
                </a:solidFill>
              </a:rPr>
              <a:t>“...</a:t>
            </a:r>
            <a:r>
              <a:rPr lang="en-US" sz="1100" b="1">
                <a:solidFill>
                  <a:srgbClr val="C0392B"/>
                </a:solidFill>
              </a:rPr>
              <a:t>Segmentation for document layout analysis: not dead yet</a:t>
            </a:r>
            <a:r>
              <a:rPr lang="en-US" sz="1100">
                <a:solidFill>
                  <a:srgbClr val="212121"/>
                </a:solidFill>
              </a:rPr>
              <a:t>… Logan Markewich, Hao Zhang, et al.”</a:t>
            </a:r>
          </a:p>
          <a:p>
            <a:endParaRPr lang="en-US" sz="500"/>
          </a:p>
          <a:p>
            <a:r>
              <a:rPr lang="en-US" sz="1100" b="1">
                <a:solidFill>
                  <a:srgbClr val="C0392B"/>
                </a:solidFill>
                <a:latin typeface="Kalam"/>
                <a:ea typeface="Kalam"/>
                <a:cs typeface="Kalam"/>
                <a:sym typeface="Kalam"/>
              </a:rPr>
              <a:t>Wrong.</a:t>
            </a:r>
          </a:p>
        </p:txBody>
      </p:sp>
      <p:sp>
        <p:nvSpPr>
          <p:cNvPr id="7" name="PanelB"/>
          <p:cNvSpPr/>
          <p:nvPr/>
        </p:nvSpPr>
        <p:spPr>
          <a:xfrm>
            <a:off x="3248000" y="1180000"/>
            <a:ext cx="2648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050">
                <a:solidFill>
                  <a:srgbClr val="212121"/>
                </a:solidFill>
              </a:rPr>
              <a:t>“...the paper … was written by: Birgit Pfitzmann, Christoph Auer, Ahmed S. Nassar, Michele Dolfi, and Peter Staar”</a:t>
            </a:r>
          </a:p>
          <a:p>
            <a:endParaRPr lang="en-US" sz="500"/>
          </a:p>
          <a:p>
            <a:r>
              <a:rPr lang="en-US" sz="1000" i="1">
                <a:solidFill>
                  <a:srgbClr val="595959"/>
                </a:solidFill>
              </a:rPr>
              <a:t>...then walks through every author's IBM Research address and email from the extended-content block, plus the arXiv metadata, to confirm it.</a:t>
            </a:r>
          </a:p>
          <a:p>
            <a:endParaRPr lang="en-US" sz="400"/>
          </a:p>
          <a:p>
            <a:r>
              <a:rPr lang="en-US" sz="11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Correct. Verbose.</a:t>
            </a:r>
          </a:p>
        </p:txBody>
      </p:sp>
      <p:sp>
        <p:nvSpPr>
          <p:cNvPr id="8" name="PanelC"/>
          <p:cNvSpPr/>
          <p:nvPr/>
        </p:nvSpPr>
        <p:spPr>
          <a:xfrm>
            <a:off x="6046000" y="1180000"/>
            <a:ext cx="2648000" cy="33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050">
                <a:solidFill>
                  <a:srgbClr val="212121"/>
                </a:solidFill>
              </a:rPr>
              <a:t>“...the authors of the paper are: Birgit Pfitzmann, Christoph Auer, Michele Dolfi, Ahmed S. Nassar, and Peter Staar”</a:t>
            </a:r>
          </a:p>
          <a:p>
            <a:endParaRPr lang="en-US" sz="500"/>
          </a:p>
          <a:p>
            <a:r>
              <a:rPr lang="en-US" sz="1000" i="1">
                <a:solidFill>
                  <a:srgbClr val="595959"/>
                </a:solidFill>
              </a:rPr>
              <a:t>“...clearly stated in the ACM Reference Format section at the beginning of the document.”</a:t>
            </a:r>
          </a:p>
          <a:p>
            <a:endParaRPr lang="en-US" sz="400"/>
          </a:p>
          <a:p>
            <a:r>
              <a:rPr lang="en-US" sz="11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Correct. Direct.</a:t>
            </a:r>
          </a:p>
        </p:txBody>
      </p:sp>
      <p:sp>
        <p:nvSpPr>
          <p:cNvPr id="10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The easy questions tie too</a:t>
            </a:r>
          </a:p>
        </p:txBody>
      </p:sp>
      <p:sp>
        <p:nvSpPr>
          <p:cNvPr id="3" name="Row1"/>
          <p:cNvSpPr/>
          <p:nvPr/>
        </p:nvSpPr>
        <p:spPr>
          <a:xfrm>
            <a:off x="450000" y="1000000"/>
            <a:ext cx="8244000" cy="15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/>
          <a:lstStyle/>
          <a:p>
            <a:r>
              <a:rPr lang="en-US" sz="1400" i="1">
                <a:solidFill>
                  <a:srgbClr val="595959"/>
                </a:solidFill>
              </a:rPr>
              <a:t>“How many annotators were used in the production annotation phase, and how long did it take?”</a:t>
            </a:r>
          </a:p>
          <a:p>
            <a:endParaRPr lang="en-US" sz="500"/>
          </a:p>
          <a:p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A, B, and C: </a:t>
            </a:r>
            <a:r>
              <a:rPr lang="en-US" sz="1500"/>
              <a:t>32 annotators, approximately three months. All three, correct.</a:t>
            </a:r>
          </a:p>
        </p:txBody>
      </p:sp>
      <p:sp>
        <p:nvSpPr>
          <p:cNvPr id="4" name="Row2"/>
          <p:cNvSpPr/>
          <p:nvPr/>
        </p:nvSpPr>
        <p:spPr>
          <a:xfrm>
            <a:off x="450000" y="2700000"/>
            <a:ext cx="8244000" cy="15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 lIns="228600" tIns="182880" rIns="228600" bIns="182880"/>
          <a:lstStyle/>
          <a:p>
            <a:r>
              <a:rPr lang="en-US" sz="1400" i="1">
                <a:solidFill>
                  <a:srgbClr val="595959"/>
                </a:solidFill>
              </a:rPr>
              <a:t>“What percentage of DocLayNet pages are Patents?”</a:t>
            </a:r>
          </a:p>
          <a:p>
            <a:endParaRPr lang="en-US" sz="500"/>
          </a:p>
          <a:p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A, B, and C: </a:t>
            </a:r>
            <a:r>
              <a:rPr lang="en-US" sz="1500"/>
              <a:t>8%. All three, correct. (Mode C only gets there because of the orphaned-picture rescue from the last slide.)</a:t>
            </a:r>
          </a:p>
        </p:txBody>
      </p:sp>
      <p:sp>
        <p:nvSpPr>
          <p:cNvPr id="6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Same answer, wildly different evidence</a:t>
            </a:r>
          </a:p>
        </p:txBody>
      </p:sp>
      <p:sp>
        <p:nvSpPr>
          <p:cNvPr id="3" name="Question"/>
          <p:cNvSpPr txBox="1"/>
          <p:nvPr/>
        </p:nvSpPr>
        <p:spPr>
          <a:xfrm>
            <a:off x="450000" y="750000"/>
            <a:ext cx="8244000" cy="400000"/>
          </a:xfrm>
        </p:spPr>
        <p:txBody>
          <a:bodyPr/>
          <a:lstStyle/>
          <a:p>
            <a:r>
              <a:rPr lang="en-US" sz="1300" i="1">
                <a:solidFill>
                  <a:srgbClr val="595959"/>
                </a:solidFill>
              </a:rPr>
              <a:t>“What does Table 2 show, and what network architecture won overall?”</a:t>
            </a:r>
          </a:p>
        </p:txBody>
      </p:sp>
      <p:sp>
        <p:nvSpPr>
          <p:cNvPr id="4" name="PanelA"/>
          <p:cNvSpPr/>
          <p:nvPr/>
        </p:nvSpPr>
        <p:spPr>
          <a:xfrm>
            <a:off x="450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2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A</a:t>
            </a:r>
          </a:p>
          <a:p>
            <a:endParaRPr lang="en-US" sz="500"/>
          </a:p>
          <a:p>
            <a:r>
              <a:rPr lang="en-US" sz="1200">
                <a:solidFill>
                  <a:srgbClr val="212121"/>
                </a:solidFill>
              </a:rPr>
              <a:t>“YOLOv5x won overall.”</a:t>
            </a:r>
          </a:p>
          <a:p>
            <a:endParaRPr lang="en-US" sz="500"/>
          </a:p>
          <a:p>
            <a:r>
              <a:rPr lang="en-US" sz="1100" i="1">
                <a:solidFill>
                  <a:srgbClr val="595959"/>
                </a:solidFill>
              </a:rPr>
              <a:t>Correct. Bare assertion, no scores, no metadata.</a:t>
            </a:r>
          </a:p>
        </p:txBody>
      </p:sp>
      <p:sp>
        <p:nvSpPr>
          <p:cNvPr id="5" name="PanelB"/>
          <p:cNvSpPr/>
          <p:nvPr/>
        </p:nvSpPr>
        <p:spPr>
          <a:xfrm>
            <a:off x="3248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2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B</a:t>
            </a:r>
          </a:p>
          <a:p>
            <a:endParaRPr lang="en-US" sz="500"/>
          </a:p>
          <a:p>
            <a:r>
              <a:rPr lang="en-US" sz="1200">
                <a:solidFill>
                  <a:srgbClr val="212121"/>
                </a:solidFill>
              </a:rPr>
              <a:t>“YOLOv5x6 won overall in Table 2.”</a:t>
            </a:r>
          </a:p>
          <a:p>
            <a:endParaRPr lang="en-US" sz="500"/>
          </a:p>
          <a:p>
            <a:r>
              <a:rPr lang="en-US" sz="1100" i="1">
                <a:solidFill>
                  <a:srgbClr val="595959"/>
                </a:solidFill>
              </a:rPr>
              <a:t>Correct. Same assertion, now with page/type metadata in the chunks.</a:t>
            </a:r>
          </a:p>
        </p:txBody>
      </p:sp>
      <p:sp>
        <p:nvSpPr>
          <p:cNvPr id="6" name="PanelC"/>
          <p:cNvSpPr/>
          <p:nvPr/>
        </p:nvSpPr>
        <p:spPr>
          <a:xfrm>
            <a:off x="6046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2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C</a:t>
            </a:r>
          </a:p>
          <a:p>
            <a:endParaRPr lang="en-US" sz="400"/>
          </a:p>
          <a:p>
            <a:r>
              <a:rPr lang="en-US" sz="1050">
                <a:solidFill>
                  <a:srgbClr val="212121"/>
                </a:solidFill>
              </a:rPr>
              <a:t>YOLOv5x6: 77.7, R101: 71.5, FRCNN: 70.1, R50: 68.4</a:t>
            </a:r>
          </a:p>
          <a:p>
            <a:endParaRPr lang="en-US" sz="400"/>
          </a:p>
          <a:p>
            <a:r>
              <a:rPr lang="en-US" sz="105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Correct, with the actual scores.</a:t>
            </a:r>
          </a:p>
        </p:txBody>
      </p:sp>
      <p:sp>
        <p:nvSpPr>
          <p:cNvPr id="8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Only Mode C can answer</a:t>
            </a:r>
          </a:p>
        </p:txBody>
      </p:sp>
      <p:sp>
        <p:nvSpPr>
          <p:cNvPr id="3" name="Question"/>
          <p:cNvSpPr txBox="1"/>
          <p:nvPr/>
        </p:nvSpPr>
        <p:spPr>
          <a:xfrm>
            <a:off x="450000" y="750000"/>
            <a:ext cx="8244000" cy="400000"/>
          </a:xfrm>
        </p:spPr>
        <p:txBody>
          <a:bodyPr/>
          <a:lstStyle/>
          <a:p>
            <a:r>
              <a:rPr lang="en-US" sz="1300" i="1">
                <a:solidFill>
                  <a:srgbClr val="595959"/>
                </a:solidFill>
              </a:rPr>
              <a:t>“By how many mAP points does YOLOv5x outperform Faster R-CNN overall?”</a:t>
            </a:r>
          </a:p>
        </p:txBody>
      </p:sp>
      <p:sp>
        <p:nvSpPr>
          <p:cNvPr id="4" name="PanelA"/>
          <p:cNvSpPr/>
          <p:nvPr/>
        </p:nvSpPr>
        <p:spPr>
          <a:xfrm>
            <a:off x="450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C0C0C0"/>
            </a:solidFill>
          </a:ln>
        </p:spPr>
        <p:txBody>
          <a:bodyPr lIns="137160" tIns="137160" rIns="137160" bIns="137160"/>
          <a:lstStyle/>
          <a:p>
            <a:r>
              <a:rPr lang="en-US" sz="1200" b="1">
                <a:solidFill>
                  <a:srgbClr val="808080"/>
                </a:solidFill>
                <a:latin typeface="Kalam"/>
                <a:ea typeface="Kalam"/>
                <a:cs typeface="Kalam"/>
                <a:sym typeface="Kalam"/>
              </a:rPr>
              <a:t>Mode A</a:t>
            </a:r>
          </a:p>
          <a:p>
            <a:endParaRPr lang="en-US" sz="500"/>
          </a:p>
          <a:p>
            <a:r>
              <a:rPr lang="en-US" sz="1200" i="1">
                <a:solidFill>
                  <a:srgbClr val="595959"/>
                </a:solidFill>
              </a:rPr>
              <a:t>“I don't have enough information.”</a:t>
            </a:r>
          </a:p>
        </p:txBody>
      </p:sp>
      <p:sp>
        <p:nvSpPr>
          <p:cNvPr id="5" name="PanelB"/>
          <p:cNvSpPr/>
          <p:nvPr/>
        </p:nvSpPr>
        <p:spPr>
          <a:xfrm>
            <a:off x="3248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C0C0C0"/>
            </a:solidFill>
          </a:ln>
        </p:spPr>
        <p:txBody>
          <a:bodyPr lIns="137160" tIns="137160" rIns="137160" bIns="137160"/>
          <a:lstStyle/>
          <a:p>
            <a:r>
              <a:rPr lang="en-US" sz="1200" b="1">
                <a:solidFill>
                  <a:srgbClr val="808080"/>
                </a:solidFill>
                <a:latin typeface="Kalam"/>
                <a:ea typeface="Kalam"/>
                <a:cs typeface="Kalam"/>
                <a:sym typeface="Kalam"/>
              </a:rPr>
              <a:t>Mode B</a:t>
            </a:r>
          </a:p>
          <a:p>
            <a:endParaRPr lang="en-US" sz="500"/>
          </a:p>
          <a:p>
            <a:r>
              <a:rPr lang="en-US" sz="1150" i="1">
                <a:solidFill>
                  <a:srgbClr val="595959"/>
                </a:solidFill>
              </a:rPr>
              <a:t>“The actual table with numerical values is not included in the provided context.”</a:t>
            </a:r>
          </a:p>
        </p:txBody>
      </p:sp>
      <p:sp>
        <p:nvSpPr>
          <p:cNvPr id="6" name="PanelC"/>
          <p:cNvSpPr/>
          <p:nvPr/>
        </p:nvSpPr>
        <p:spPr>
          <a:xfrm>
            <a:off x="6046000" y="1300000"/>
            <a:ext cx="2648000" cy="31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31750">
            <a:solidFill>
              <a:srgbClr val="4285F4"/>
            </a:solidFill>
          </a:ln>
        </p:spPr>
        <p:txBody>
          <a:bodyPr lIns="137160" tIns="137160" rIns="137160" bIns="137160"/>
          <a:lstStyle/>
          <a:p>
            <a:r>
              <a:rPr lang="en-US" sz="13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C</a:t>
            </a:r>
          </a:p>
          <a:p>
            <a:endParaRPr lang="en-US" sz="500"/>
          </a:p>
          <a:p>
            <a:r>
              <a:rPr lang="en-US" sz="1150">
                <a:solidFill>
                  <a:srgbClr val="212121"/>
                </a:solidFill>
              </a:rPr>
              <a:t>“FRCNN.R101: 70.1, YOLOv5x6: 77.7. The difference is 77.7 - 70.1 = </a:t>
            </a:r>
            <a:r>
              <a:rPr lang="en-US" sz="14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7.6 mAP points.</a:t>
            </a:r>
            <a:r>
              <a:rPr lang="en-US" sz="1150">
                <a:solidFill>
                  <a:srgbClr val="212121"/>
                </a:solidFill>
              </a:rPr>
              <a:t>”</a:t>
            </a:r>
          </a:p>
        </p:txBody>
      </p:sp>
      <p:sp>
        <p:nvSpPr>
          <p:cNvPr id="8" name="LiveBadgeText"/>
          <p:cNvSpPr txBox="1"/>
          <p:nvPr/>
        </p:nvSpPr>
        <p:spPr>
          <a:xfrm>
            <a:off x="71200" y="45720"/>
            <a:ext cx="868680" cy="22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D32F2F"/>
                </a:solidFill>
              </a:rPr>
              <a:t>🔴 LIVE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450000" y="220000"/>
            <a:ext cx="8244000" cy="48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  <a:ea typeface="Kalam"/>
                <a:cs typeface="Kalam"/>
                <a:sym typeface="Kalam"/>
              </a:rPr>
              <a:t>Mode C: extract and chunk, one call</a:t>
            </a:r>
          </a:p>
        </p:txBody>
      </p:sp>
      <p:sp>
        <p:nvSpPr>
          <p:cNvPr id="3" name="CodeBlock"/>
          <p:cNvSpPr/>
          <p:nvPr/>
        </p:nvSpPr>
        <p:spPr>
          <a:xfrm>
            <a:off x="450000" y="750000"/>
            <a:ext cx="8244000" cy="3900000"/>
          </a:xfrm>
          <a:prstGeom prst="roundRect">
            <a:avLst>
              <a:gd name="adj" fmla="val 3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</p:spPr>
        <p:txBody>
          <a:bodyPr lIns="228600" tIns="182880" rIns="228600" bIns="182880"/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package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dev.ericdeandrea.docling.ai.ingestion.extraction;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4285F4"/>
                </a:solidFill>
                <a:latin typeface="Courier New"/>
              </a:rPr>
              <a:t>public class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DoclingHybridExtractor {</a:t>
            </a:r>
          </a:p>
          <a:p>
            <a:pPr>
              <a:lnSpc>
                <a:spcPct val="115000"/>
              </a:lnSpc>
            </a:pPr>
            <a:endParaRPr lang="en-US" sz="500"/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public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Uni&lt;List&lt;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TextSegment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&gt;&gt; extractAndChunk(Path documentPath) {</a:t>
            </a:r>
          </a:p>
          <a:p>
            <a:pPr>
              <a:lnSpc>
                <a:spcPct val="115000"/>
              </a:lnSpc>
            </a:pPr>
            <a:r>
              <a:rPr lang="en-US" sz="950" b="1" i="1">
                <a:solidFill>
                  <a:srgbClr val="757575"/>
                </a:solidFill>
                <a:latin typeface="Courier New"/>
              </a:rPr>
              <a:t>    // One request: extraction AND structure-aware chunking, server-side.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request = HybridChunkDocumentRequest.builder()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.includeConvertedDoc(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true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).build();</a:t>
            </a:r>
          </a:p>
          <a:p>
            <a:pPr>
              <a:lnSpc>
                <a:spcPct val="115000"/>
              </a:lnSpc>
            </a:pPr>
            <a:endParaRPr lang="en-US" sz="500"/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doclingServeApi.chunkFilesWithHybridChunkerAsync(request, documentPath)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.map(response -&gt; {</a:t>
            </a:r>
          </a:p>
          <a:p>
            <a:pPr>
              <a:lnSpc>
                <a:spcPct val="115000"/>
              </a:lnSpc>
            </a:pPr>
            <a:r>
              <a:rPr lang="en-US" sz="950" b="1" i="1">
                <a:solidFill>
                  <a:srgbClr val="757575"/>
                </a:solidFill>
                <a:latin typeface="Courier New"/>
              </a:rPr>
              <a:t>        // Server already returns fully-formed chunks. No local chunker.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var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segments = response.getChunks().stream()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  .map(chunk -&gt; </a:t>
            </a:r>
            <a:r>
              <a:rPr lang="en-US" sz="1050">
                <a:solidFill>
                  <a:srgbClr val="7CB342"/>
                </a:solidFill>
                <a:latin typeface="Courier New"/>
              </a:rPr>
              <a:t>TextSegment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.from(chunk.getText(), metadataFor(chunk)))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  .collect(toCollection(ArrayList::new));</a:t>
            </a:r>
          </a:p>
          <a:p>
            <a:pPr>
              <a:lnSpc>
                <a:spcPct val="115000"/>
              </a:lnSpc>
            </a:pPr>
            <a:endParaRPr lang="en-US" sz="500"/>
          </a:p>
          <a:p>
            <a:pPr>
              <a:lnSpc>
                <a:spcPct val="115000"/>
              </a:lnSpc>
            </a:pPr>
            <a:r>
              <a:rPr lang="en-US" sz="950" b="1" i="1">
                <a:solidFill>
                  <a:srgbClr val="757575"/>
                </a:solidFill>
                <a:latin typeface="Courier New"/>
              </a:rPr>
              <a:t>        // Rescue chart labels the chunker would otherwise drop.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rescueOrphanedPictureText(response, segments);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  </a:t>
            </a:r>
            <a:r>
              <a:rPr lang="en-US" sz="1050">
                <a:solidFill>
                  <a:srgbClr val="4285F4"/>
                </a:solidFill>
                <a:latin typeface="Courier New"/>
              </a:rPr>
              <a:t>return</a:t>
            </a:r>
            <a:r>
              <a:rPr lang="en-US" sz="1050">
                <a:solidFill>
                  <a:srgbClr val="212121"/>
                </a:solidFill>
                <a:latin typeface="Courier New"/>
              </a:rPr>
              <a:t> segments;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    });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  }</a:t>
            </a:r>
          </a:p>
          <a:p>
            <a:pPr>
              <a:lnSpc>
                <a:spcPct val="115000"/>
              </a:lnSpc>
            </a:pPr>
            <a:r>
              <a:rPr lang="en-US" sz="105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450000" y="4680000"/>
            <a:ext cx="6900000" cy="300000"/>
          </a:xfrm>
        </p:spPr>
        <p:txBody>
          <a:bodyPr/>
          <a:lstStyle/>
          <a:p>
            <a:r>
              <a:rPr lang="en-US" sz="950" i="1">
                <a:solidFill>
                  <a:srgbClr val="595959"/>
                </a:solidFill>
              </a:rPr>
              <a:t>Simplified for the slide: the real method inlines this logic rather than calling named helpers. Same behavior.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/>
          <a:lstStyle/>
          <a:p>
            <a:r>
              <a:rPr lang="en-US" sz="2800" b="1">
                <a:solidFill>
                  <a:srgbClr val="434343"/>
                </a:solidFill>
                <a:latin typeface="Kalam"/>
                <a:ea typeface="Kalam"/>
                <a:cs typeface="Kalam"/>
                <a:sym typeface="Kalam"/>
              </a:rPr>
              <a:t>Not just a Quarkus thing</a:t>
            </a:r>
          </a:p>
        </p:txBody>
      </p:sp>
      <p:sp>
        <p:nvSpPr>
          <p:cNvPr id="10" name="Card1"/>
          <p:cNvSpPr/>
          <p:nvPr/>
        </p:nvSpPr>
        <p:spPr>
          <a:xfrm>
            <a:off x="311700" y="1300000"/>
            <a:ext cx="2673500" cy="19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0" name="LangChain4jIcon"/>
          <p:cNvPicPr/>
          <p:nvPr/>
        </p:nvPicPr>
        <p:blipFill>
          <a:blip r:embed="rId3"/>
          <a:stretch>
            <a:fillRect/>
          </a:stretch>
        </p:blipFill>
        <p:spPr>
          <a:xfrm>
            <a:off x="1388974" y="1420000"/>
            <a:ext cx="520000" cy="520000"/>
          </a:xfrm>
          <a:prstGeom prst="rect">
            <a:avLst/>
          </a:prstGeom>
        </p:spPr>
      </p:pic>
      <p:sp>
        <p:nvSpPr>
          <p:cNvPr id="21" name="Card1Text"/>
          <p:cNvSpPr txBox="1"/>
          <p:nvPr/>
        </p:nvSpPr>
        <p:spPr>
          <a:xfrm>
            <a:off x="461700" y="1990000"/>
            <a:ext cx="2373500" cy="1150000"/>
          </a:xfrm>
        </p:spPr>
        <p:txBody>
          <a:bodyPr lIns="0" tIns="0" rIns="0" bIns="0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LangChain4j</a:t>
            </a:r>
          </a:p>
          <a:p>
            <a:pPr algn="ctr"/>
            <a:r>
              <a:rPr lang="en-US" sz="1250">
                <a:latin typeface="Arial"/>
                <a:ea typeface="Arial"/>
                <a:cs typeface="Arial"/>
                <a:sym typeface="Arial"/>
              </a:rPr>
              <a:t>What this whole demo runs on</a:t>
            </a:r>
          </a:p>
        </p:txBody>
      </p:sp>
      <p:sp>
        <p:nvSpPr>
          <p:cNvPr id="11" name="Card2"/>
          <p:cNvSpPr/>
          <p:nvPr/>
        </p:nvSpPr>
        <p:spPr>
          <a:xfrm>
            <a:off x="3235233" y="1300000"/>
            <a:ext cx="2673500" cy="19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2" name="QuarkusIcon"/>
          <p:cNvPicPr/>
          <p:nvPr/>
        </p:nvPicPr>
        <p:blipFill>
          <a:blip r:embed="rId4"/>
          <a:stretch>
            <a:fillRect/>
          </a:stretch>
        </p:blipFill>
        <p:spPr>
          <a:xfrm>
            <a:off x="4312310" y="1420000"/>
            <a:ext cx="520000" cy="520000"/>
          </a:xfrm>
          <a:prstGeom prst="rect">
            <a:avLst/>
          </a:prstGeom>
        </p:spPr>
      </p:pic>
      <p:sp>
        <p:nvSpPr>
          <p:cNvPr id="23" name="Card2Text"/>
          <p:cNvSpPr txBox="1"/>
          <p:nvPr/>
        </p:nvSpPr>
        <p:spPr>
          <a:xfrm>
            <a:off x="3385233" y="1990000"/>
            <a:ext cx="2373500" cy="1150000"/>
          </a:xfrm>
        </p:spPr>
        <p:txBody>
          <a:bodyPr lIns="0" tIns="0" rIns="0" bIns="0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Quarkus</a:t>
            </a:r>
          </a:p>
          <a:p>
            <a:pPr algn="ctr"/>
            <a:r>
              <a:rPr lang="en-US" sz="1250">
                <a:latin typeface="Arial"/>
                <a:ea typeface="Arial"/>
                <a:cs typeface="Arial"/>
                <a:sym typeface="Arial"/>
              </a:rPr>
              <a:t>quarkus-docling, co-maintained with Alex Soto</a:t>
            </a:r>
          </a:p>
        </p:txBody>
      </p:sp>
      <p:sp>
        <p:nvSpPr>
          <p:cNvPr id="12" name="Card3"/>
          <p:cNvSpPr/>
          <p:nvPr/>
        </p:nvSpPr>
        <p:spPr>
          <a:xfrm>
            <a:off x="6158767" y="1300000"/>
            <a:ext cx="2673500" cy="19000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Card3Text"/>
          <p:cNvSpPr txBox="1"/>
          <p:nvPr/>
        </p:nvSpPr>
        <p:spPr>
          <a:xfrm>
            <a:off x="6308767" y="1990000"/>
            <a:ext cx="2373500" cy="1150000"/>
          </a:xfrm>
        </p:spPr>
        <p:txBody>
          <a:bodyPr lIns="0" tIns="0" rIns="0" bIns="0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Spring Boot</a:t>
            </a:r>
          </a:p>
          <a:p>
            <a:pPr algn="ctr"/>
            <a:r>
              <a:rPr lang="en-US" sz="1250">
                <a:latin typeface="Arial"/>
                <a:ea typeface="Arial"/>
                <a:cs typeface="Arial"/>
                <a:sym typeface="Arial"/>
              </a:rPr>
              <a:t>Arconia by Thomas Vitale, plugs into Spring AI's RAG pipeline</a:t>
            </a:r>
          </a:p>
        </p:txBody>
      </p:sp>
      <p:sp>
        <p:nvSpPr>
          <p:cNvPr id="26" name="Story"/>
          <p:cNvSpPr txBox="1"/>
          <p:nvPr/>
        </p:nvSpPr>
        <p:spPr>
          <a:xfrm>
            <a:off x="311700" y="3450000"/>
            <a:ext cx="8520600" cy="1300000"/>
          </a:xfrm>
        </p:spPr>
        <p:txBody>
          <a:bodyPr/>
          <a:lstStyle/>
          <a:p>
            <a:r>
              <a:rPr lang="en-US" sz="1500" i="1">
                <a:latin typeface="Arial"/>
                <a:ea typeface="Arial"/>
                <a:cs typeface="Arial"/>
                <a:sym typeface="Arial"/>
              </a:rPr>
              <a:t>Thomas Vitale and I built the same idea independently, then joined forces: </a:t>
            </a:r>
            <a:r>
              <a:rPr lang="en-US" sz="1500" b="1" i="1">
                <a:solidFill>
                  <a:srgbClr val="4285F4"/>
                </a:solidFill>
                <a:latin typeface="Arial"/>
                <a:ea typeface="Arial"/>
                <a:cs typeface="Arial"/>
                <a:sym typeface="Arial"/>
              </a:rPr>
              <a:t>docling-java</a:t>
            </a:r>
            <a:r>
              <a:rPr lang="en-US" sz="1500" i="1">
                <a:latin typeface="Arial"/>
                <a:ea typeface="Arial"/>
                <a:cs typeface="Arial"/>
                <a:sym typeface="Arial"/>
              </a:rPr>
              <a:t>, one foundation under all three.</a:t>
            </a:r>
          </a:p>
        </p:txBody>
      </p:sp>
      <p:pic>
        <p:nvPicPr>
          <p:cNvPr id="27" name="SpringBootIcon" descr="spring-boot-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5647" y="1420000"/>
            <a:ext cx="520000" cy="52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Text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/>
              <a:t>Takeaways</a:t>
            </a:r>
          </a:p>
          <a:p>
            <a:pPr marL="0" indent="0" algn="ctr">
              <a:buNone/>
            </a:pPr>
            <a:r>
              <a:rPr lang="en-US" sz="2000" b="0" i="1"/>
              <a:t>What we actually proved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ing"/>
          <p:cNvSpPr txBox="1"/>
          <p:nvPr/>
        </p:nvSpPr>
        <p:spPr>
          <a:xfrm>
            <a:off x="311700" y="250000"/>
            <a:ext cx="8520600" cy="600000"/>
          </a:xfrm>
        </p:spPr>
        <p:txBody>
          <a:bodyPr/>
          <a:lstStyle/>
          <a:p>
            <a:r>
              <a:rPr lang="en-US" sz="2800" b="1">
                <a:solidFill>
                  <a:srgbClr val="212121"/>
                </a:solidFill>
                <a:latin typeface="Kalam"/>
              </a:rPr>
              <a:t>Five questions, three modes, all real</a:t>
            </a:r>
          </a:p>
        </p:txBody>
      </p:sp>
      <p:sp>
        <p:nvSpPr>
          <p:cNvPr id="10" name="HeaderLabel"/>
          <p:cNvSpPr txBox="1"/>
          <p:nvPr/>
        </p:nvSpPr>
        <p:spPr>
          <a:xfrm>
            <a:off x="311700" y="950000"/>
            <a:ext cx="3100000" cy="400000"/>
          </a:xfrm>
        </p:spPr>
        <p:txBody>
          <a:bodyPr anchor="ctr"/>
          <a:lstStyle/>
          <a:p>
            <a:r>
              <a:rPr lang="en-US" sz="1400" b="1">
                <a:solidFill>
                  <a:srgbClr val="595959"/>
                </a:solidFill>
              </a:rPr>
              <a:t>Question</a:t>
            </a:r>
          </a:p>
        </p:txBody>
      </p:sp>
      <p:sp>
        <p:nvSpPr>
          <p:cNvPr id="11" name="HeaderModeA"/>
          <p:cNvSpPr txBox="1"/>
          <p:nvPr/>
        </p:nvSpPr>
        <p:spPr>
          <a:xfrm>
            <a:off x="3511700" y="950000"/>
            <a:ext cx="1750000" cy="400000"/>
          </a:xfrm>
        </p:spPr>
        <p:txBody>
          <a:bodyPr anchor="ctr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A</a:t>
            </a:r>
          </a:p>
        </p:txBody>
      </p:sp>
      <p:sp>
        <p:nvSpPr>
          <p:cNvPr id="12" name="HeaderModeB"/>
          <p:cNvSpPr txBox="1"/>
          <p:nvPr/>
        </p:nvSpPr>
        <p:spPr>
          <a:xfrm>
            <a:off x="5361700" y="950000"/>
            <a:ext cx="1750000" cy="400000"/>
          </a:xfrm>
        </p:spPr>
        <p:txBody>
          <a:bodyPr anchor="ctr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B</a:t>
            </a:r>
          </a:p>
        </p:txBody>
      </p:sp>
      <p:sp>
        <p:nvSpPr>
          <p:cNvPr id="13" name="HeaderModeC"/>
          <p:cNvSpPr txBox="1"/>
          <p:nvPr/>
        </p:nvSpPr>
        <p:spPr>
          <a:xfrm>
            <a:off x="7211700" y="950000"/>
            <a:ext cx="1750000" cy="400000"/>
          </a:xfrm>
        </p:spPr>
        <p:txBody>
          <a:bodyPr anchor="ctr"/>
          <a:lstStyle/>
          <a:p>
            <a:pPr algn="ctr"/>
            <a:r>
              <a:rPr lang="en-US" sz="1500" b="1">
                <a:solidFill>
                  <a:srgbClr val="4285F4"/>
                </a:solidFill>
                <a:latin typeface="Kalam"/>
                <a:ea typeface="Kalam"/>
                <a:cs typeface="Kalam"/>
                <a:sym typeface="Kalam"/>
              </a:rPr>
              <a:t>Mode C</a:t>
            </a:r>
          </a:p>
        </p:txBody>
      </p:sp>
      <p:sp>
        <p:nvSpPr>
          <p:cNvPr id="14" name="RowBg0"/>
          <p:cNvSpPr/>
          <p:nvPr/>
        </p:nvSpPr>
        <p:spPr>
          <a:xfrm>
            <a:off x="311700" y="1500000"/>
            <a:ext cx="8650000" cy="5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Label0"/>
          <p:cNvSpPr txBox="1"/>
          <p:nvPr/>
        </p:nvSpPr>
        <p:spPr>
          <a:xfrm>
            <a:off x="448860" y="1500000"/>
            <a:ext cx="2962840" cy="580000"/>
          </a:xfrm>
        </p:spPr>
        <p:txBody>
          <a:bodyPr anchor="ctr"/>
          <a:lstStyle/>
          <a:p>
            <a:r>
              <a:rPr lang="en-US" sz="1300" b="1">
                <a:solidFill>
                  <a:srgbClr val="212121"/>
                </a:solidFill>
              </a:rPr>
              <a:t>Annotators &amp; timeline</a:t>
            </a:r>
          </a:p>
        </p:txBody>
      </p:sp>
      <p:sp>
        <p:nvSpPr>
          <p:cNvPr id="16" name="Mark0_3511700"/>
          <p:cNvSpPr txBox="1"/>
          <p:nvPr/>
        </p:nvSpPr>
        <p:spPr>
          <a:xfrm>
            <a:off x="3511700" y="150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17" name="Mark0_5361700"/>
          <p:cNvSpPr txBox="1"/>
          <p:nvPr/>
        </p:nvSpPr>
        <p:spPr>
          <a:xfrm>
            <a:off x="5361700" y="150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18" name="Mark0_7211700"/>
          <p:cNvSpPr txBox="1"/>
          <p:nvPr/>
        </p:nvSpPr>
        <p:spPr>
          <a:xfrm>
            <a:off x="7211700" y="150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19" name="RowBg1"/>
          <p:cNvSpPr/>
          <p:nvPr/>
        </p:nvSpPr>
        <p:spPr>
          <a:xfrm>
            <a:off x="311700" y="2160000"/>
            <a:ext cx="8650000" cy="5800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Label1"/>
          <p:cNvSpPr txBox="1"/>
          <p:nvPr/>
        </p:nvSpPr>
        <p:spPr>
          <a:xfrm>
            <a:off x="448860" y="2160000"/>
            <a:ext cx="2962840" cy="580000"/>
          </a:xfrm>
        </p:spPr>
        <p:txBody>
          <a:bodyPr anchor="ctr"/>
          <a:lstStyle/>
          <a:p>
            <a:r>
              <a:rPr lang="en-US" sz="1300" b="1">
                <a:solidFill>
                  <a:srgbClr val="212121"/>
                </a:solidFill>
              </a:rPr>
              <a:t>Patents percentage</a:t>
            </a:r>
          </a:p>
        </p:txBody>
      </p:sp>
      <p:sp>
        <p:nvSpPr>
          <p:cNvPr id="21" name="Mark1_3511700"/>
          <p:cNvSpPr txBox="1"/>
          <p:nvPr/>
        </p:nvSpPr>
        <p:spPr>
          <a:xfrm>
            <a:off x="3511700" y="216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22" name="Mark1_5361700"/>
          <p:cNvSpPr txBox="1"/>
          <p:nvPr/>
        </p:nvSpPr>
        <p:spPr>
          <a:xfrm>
            <a:off x="5361700" y="216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23" name="Mark1_7211700"/>
          <p:cNvSpPr txBox="1"/>
          <p:nvPr/>
        </p:nvSpPr>
        <p:spPr>
          <a:xfrm>
            <a:off x="7211700" y="216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24" name="RowBg2"/>
          <p:cNvSpPr/>
          <p:nvPr/>
        </p:nvSpPr>
        <p:spPr>
          <a:xfrm>
            <a:off x="311700" y="2820000"/>
            <a:ext cx="8650000" cy="5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Label2"/>
          <p:cNvSpPr txBox="1"/>
          <p:nvPr/>
        </p:nvSpPr>
        <p:spPr>
          <a:xfrm>
            <a:off x="448860" y="2820000"/>
            <a:ext cx="2962840" cy="580000"/>
          </a:xfrm>
        </p:spPr>
        <p:txBody>
          <a:bodyPr anchor="ctr"/>
          <a:lstStyle/>
          <a:p>
            <a:r>
              <a:rPr lang="en-US" sz="1300" b="1">
                <a:solidFill>
                  <a:srgbClr val="212121"/>
                </a:solidFill>
              </a:rPr>
              <a:t>Who wrote the paper?</a:t>
            </a:r>
          </a:p>
        </p:txBody>
      </p:sp>
      <p:sp>
        <p:nvSpPr>
          <p:cNvPr id="26" name="Mark2_3511700"/>
          <p:cNvSpPr txBox="1"/>
          <p:nvPr/>
        </p:nvSpPr>
        <p:spPr>
          <a:xfrm>
            <a:off x="3511700" y="282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27" name="Mark2_5361700"/>
          <p:cNvSpPr txBox="1"/>
          <p:nvPr/>
        </p:nvSpPr>
        <p:spPr>
          <a:xfrm>
            <a:off x="5361700" y="282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28" name="Mark2_7211700"/>
          <p:cNvSpPr txBox="1"/>
          <p:nvPr/>
        </p:nvSpPr>
        <p:spPr>
          <a:xfrm>
            <a:off x="7211700" y="282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29" name="RowBg3"/>
          <p:cNvSpPr/>
          <p:nvPr/>
        </p:nvSpPr>
        <p:spPr>
          <a:xfrm>
            <a:off x="311700" y="3480000"/>
            <a:ext cx="8650000" cy="5800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Label3"/>
          <p:cNvSpPr txBox="1"/>
          <p:nvPr/>
        </p:nvSpPr>
        <p:spPr>
          <a:xfrm>
            <a:off x="448860" y="3480000"/>
            <a:ext cx="3200400" cy="580000"/>
          </a:xfrm>
        </p:spPr>
        <p:txBody>
          <a:bodyPr anchor="ctr"/>
          <a:lstStyle/>
          <a:p>
            <a:r>
              <a:rPr lang="en-US" sz="1300" b="1">
                <a:solidFill>
                  <a:srgbClr val="212121"/>
                </a:solidFill>
              </a:rPr>
              <a:t>Table 2 winner</a:t>
            </a:r>
            <a:r>
              <a:rPr lang="en-US" sz="1100" i="1">
                <a:solidFill>
                  <a:srgbClr val="757575"/>
                </a:solidFill>
              </a:rPr>
              <a:t> (bare → metadata → scores)</a:t>
            </a:r>
          </a:p>
        </p:txBody>
      </p:sp>
      <p:sp>
        <p:nvSpPr>
          <p:cNvPr id="31" name="Mark3_3511700"/>
          <p:cNvSpPr txBox="1"/>
          <p:nvPr/>
        </p:nvSpPr>
        <p:spPr>
          <a:xfrm>
            <a:off x="3511700" y="348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32" name="Mark3_5361700"/>
          <p:cNvSpPr txBox="1"/>
          <p:nvPr/>
        </p:nvSpPr>
        <p:spPr>
          <a:xfrm>
            <a:off x="5361700" y="348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4285F4"/>
                </a:solidFill>
              </a:rPr>
              <a:t>✓</a:t>
            </a:r>
          </a:p>
        </p:txBody>
      </p:sp>
      <p:sp>
        <p:nvSpPr>
          <p:cNvPr id="33" name="Mark3_7211700"/>
          <p:cNvSpPr txBox="1"/>
          <p:nvPr/>
        </p:nvSpPr>
        <p:spPr>
          <a:xfrm>
            <a:off x="7211700" y="348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7CB342"/>
                </a:solidFill>
              </a:rPr>
              <a:t>✓✓</a:t>
            </a:r>
          </a:p>
        </p:txBody>
      </p:sp>
      <p:sp>
        <p:nvSpPr>
          <p:cNvPr id="34" name="RowBg4"/>
          <p:cNvSpPr/>
          <p:nvPr/>
        </p:nvSpPr>
        <p:spPr>
          <a:xfrm>
            <a:off x="311700" y="4140000"/>
            <a:ext cx="8650000" cy="5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Label4"/>
          <p:cNvSpPr txBox="1"/>
          <p:nvPr/>
        </p:nvSpPr>
        <p:spPr>
          <a:xfrm>
            <a:off x="448860" y="4140000"/>
            <a:ext cx="2962840" cy="580000"/>
          </a:xfrm>
        </p:spPr>
        <p:txBody>
          <a:bodyPr anchor="ctr"/>
          <a:lstStyle/>
          <a:p>
            <a:r>
              <a:rPr lang="en-US" sz="1300" b="1">
                <a:solidFill>
                  <a:srgbClr val="212121"/>
                </a:solidFill>
              </a:rPr>
              <a:t>mAP difference</a:t>
            </a:r>
            <a:r>
              <a:rPr lang="en-US" sz="1100" i="1">
                <a:solidFill>
                  <a:srgbClr val="757575"/>
                </a:solidFill>
              </a:rPr>
              <a:t> (only C answers)</a:t>
            </a:r>
          </a:p>
        </p:txBody>
      </p:sp>
      <p:sp>
        <p:nvSpPr>
          <p:cNvPr id="36" name="Mark4_3511700"/>
          <p:cNvSpPr txBox="1"/>
          <p:nvPr/>
        </p:nvSpPr>
        <p:spPr>
          <a:xfrm>
            <a:off x="3511700" y="414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37" name="Mark4_5361700"/>
          <p:cNvSpPr txBox="1"/>
          <p:nvPr/>
        </p:nvSpPr>
        <p:spPr>
          <a:xfrm>
            <a:off x="5361700" y="414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C0392B"/>
                </a:solidFill>
              </a:rPr>
              <a:t>✗</a:t>
            </a:r>
          </a:p>
        </p:txBody>
      </p:sp>
      <p:sp>
        <p:nvSpPr>
          <p:cNvPr id="38" name="Mark4_7211700"/>
          <p:cNvSpPr txBox="1"/>
          <p:nvPr/>
        </p:nvSpPr>
        <p:spPr>
          <a:xfrm>
            <a:off x="7211700" y="4140000"/>
            <a:ext cx="1750000" cy="580000"/>
          </a:xfrm>
        </p:spPr>
        <p:txBody>
          <a:bodyPr anchor="ctr"/>
          <a:lstStyle/>
          <a:p>
            <a:pPr algn="ctr"/>
            <a:r>
              <a:rPr lang="en-US" sz="2000" b="1">
                <a:solidFill>
                  <a:srgbClr val="7CB342"/>
                </a:solidFill>
              </a:rPr>
              <a:t>✓✓</a:t>
            </a:r>
          </a:p>
        </p:txBody>
      </p:sp>
      <p:sp>
        <p:nvSpPr>
          <p:cNvPr id="39" name="ScorecardLegend"/>
          <p:cNvSpPr txBox="1"/>
          <p:nvPr/>
        </p:nvSpPr>
        <p:spPr>
          <a:xfrm>
            <a:off x="449884" y="4754880"/>
            <a:ext cx="8244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</a:rPr>
              <a:t>✗</a:t>
            </a:r>
            <a:r>
              <a:rPr sz="1100" b="0">
                <a:solidFill>
                  <a:srgbClr val="212121"/>
                </a:solidFill>
              </a:rPr>
              <a:t> couldn't    </a:t>
            </a:r>
            <a:r>
              <a:rPr sz="1100" b="1">
                <a:solidFill>
                  <a:srgbClr val="4285F4"/>
                </a:solidFill>
              </a:rPr>
              <a:t>✓</a:t>
            </a:r>
            <a:r>
              <a:rPr sz="1100" b="0">
                <a:solidFill>
                  <a:srgbClr val="212121"/>
                </a:solidFill>
              </a:rPr>
              <a:t> answered    </a:t>
            </a:r>
            <a:r>
              <a:rPr sz="1100" b="1">
                <a:solidFill>
                  <a:srgbClr val="7CB342"/>
                </a:solidFill>
              </a:rPr>
              <a:t>✓✓</a:t>
            </a:r>
            <a:r>
              <a:rPr sz="1100" b="0">
                <a:solidFill>
                  <a:srgbClr val="212121"/>
                </a:solidFill>
              </a:rPr>
              <a:t> answered with grounded evidence (page / table / scores)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YouText"/>
          <p:cNvSpPr txBox="1">
            <a:spLocks noGrp="1"/>
          </p:cNvSpPr>
          <p:nvPr>
            <p:ph type="body" idx="1"/>
          </p:nvPr>
        </p:nvSpPr>
        <p:spPr>
          <a:xfrm>
            <a:off x="311700" y="500000"/>
            <a:ext cx="8520600" cy="900000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b="1"/>
              <a:t>Thank You!</a:t>
            </a:r>
          </a:p>
        </p:txBody>
      </p:sp>
      <p:sp>
        <p:nvSpPr>
          <p:cNvPr id="10" name="RepoLabel"/>
          <p:cNvSpPr txBox="1"/>
          <p:nvPr/>
        </p:nvSpPr>
        <p:spPr>
          <a:xfrm>
            <a:off x="1272000" y="1750000"/>
            <a:ext cx="2600000" cy="400000"/>
          </a:xfrm>
        </p:spPr>
        <p:txBody>
          <a:bodyPr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Demo app source</a:t>
            </a:r>
          </a:p>
        </p:txBody>
      </p:sp>
      <p:sp>
        <p:nvSpPr>
          <p:cNvPr id="11" name="RepoQRBg"/>
          <p:cNvSpPr/>
          <p:nvPr/>
        </p:nvSpPr>
        <p:spPr>
          <a:xfrm>
            <a:off x="1522000" y="2250000"/>
            <a:ext cx="2100000" cy="210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pic>
        <p:nvPicPr>
          <p:cNvPr id="12" name="RepoQR"/>
          <p:cNvPicPr/>
          <p:nvPr/>
        </p:nvPicPr>
        <p:blipFill>
          <a:blip r:embed="rId3"/>
          <a:stretch>
            <a:fillRect/>
          </a:stretch>
        </p:blipFill>
        <p:spPr>
          <a:xfrm>
            <a:off x="1672000" y="2400000"/>
            <a:ext cx="1800000" cy="1800000"/>
          </a:xfrm>
          <a:prstGeom prst="rect">
            <a:avLst/>
          </a:prstGeom>
        </p:spPr>
      </p:pic>
      <p:sp>
        <p:nvSpPr>
          <p:cNvPr id="13" name="RepoURL"/>
          <p:cNvSpPr txBox="1"/>
          <p:nvPr/>
        </p:nvSpPr>
        <p:spPr>
          <a:xfrm>
            <a:off x="1272000" y="4440000"/>
            <a:ext cx="2600000" cy="600000"/>
          </a:xfrm>
        </p:spPr>
        <p:txBody>
          <a:bodyPr/>
          <a:lstStyle/>
          <a:p>
            <a:pPr algn="ctr"/>
            <a:r>
              <a:rPr lang="en-US" sz="1200" u="sng">
                <a:solidFill>
                  <a:srgbClr val="FFFFFF"/>
                </a:solidFill>
              </a:rPr>
              <a:t>github.com/edeandrea/</a:t>
            </a:r>
            <a:br/>
            <a:r>
              <a:rPr lang="en-US" sz="1200" u="sng">
                <a:solidFill>
                  <a:srgbClr val="FFFFFF"/>
                </a:solidFill>
              </a:rPr>
              <a:t>garbage-in-insight-out</a:t>
            </a:r>
          </a:p>
        </p:txBody>
      </p:sp>
      <p:sp>
        <p:nvSpPr>
          <p:cNvPr id="14" name="SlidesLabel"/>
          <p:cNvSpPr txBox="1"/>
          <p:nvPr/>
        </p:nvSpPr>
        <p:spPr>
          <a:xfrm>
            <a:off x="5272000" y="1750000"/>
            <a:ext cx="2600000" cy="400000"/>
          </a:xfrm>
        </p:spPr>
        <p:txBody>
          <a:bodyPr/>
          <a:lstStyle/>
          <a:p>
            <a:pPr algn="ctr"/>
            <a:r>
              <a:rPr lang="en-US" sz="1600" b="1">
                <a:solidFill>
                  <a:srgbClr val="FFFFFF"/>
                </a:solidFill>
              </a:rPr>
              <a:t>These slides</a:t>
            </a:r>
          </a:p>
        </p:txBody>
      </p:sp>
      <p:sp>
        <p:nvSpPr>
          <p:cNvPr id="15" name="SlidesQRPlaceholder"/>
          <p:cNvSpPr/>
          <p:nvPr/>
        </p:nvSpPr>
        <p:spPr>
          <a:xfrm>
            <a:off x="5522000" y="2250000"/>
            <a:ext cx="21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A6A6A6"/>
            </a:solidFill>
            <a:prstDash val="dash"/>
          </a:ln>
        </p:spPr>
        <p:txBody>
          <a:bodyPr anchor="ctr"/>
          <a:lstStyle/>
          <a:p>
            <a:pPr algn="ctr"/>
            <a:r>
              <a:rPr lang="en-US" sz="1400" b="1" i="1">
                <a:solidFill>
                  <a:srgbClr val="808080"/>
                </a:solidFill>
              </a:rPr>
              <a:t>QR CODE</a:t>
            </a:r>
          </a:p>
          <a:p>
            <a:pPr algn="ctr"/>
            <a:r>
              <a:rPr lang="en-US" sz="1400" b="1" i="1">
                <a:solidFill>
                  <a:srgbClr val="808080"/>
                </a:solidFill>
              </a:rPr>
              <a:t>TBD</a:t>
            </a:r>
          </a:p>
        </p:txBody>
      </p:sp>
      <p:sp>
        <p:nvSpPr>
          <p:cNvPr id="16" name="SlidesURL"/>
          <p:cNvSpPr txBox="1"/>
          <p:nvPr/>
        </p:nvSpPr>
        <p:spPr>
          <a:xfrm>
            <a:off x="5272000" y="4470000"/>
            <a:ext cx="2600000" cy="350000"/>
          </a:xfrm>
        </p:spPr>
        <p:txBody>
          <a:bodyPr/>
          <a:lstStyle/>
          <a:p>
            <a:pPr algn="ctr"/>
            <a:r>
              <a:rPr lang="en-US" sz="1200" i="1">
                <a:solidFill>
                  <a:srgbClr val="C0C0C0"/>
                </a:solidFill>
              </a:rPr>
              <a:t>URL not yet published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ric Community" id="{1892407E-1536-3646-86FD-B3F12B0A7411}" vid="{361C97CB-00F6-C247-A1DD-375A640C3A5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5073</Words>
  <Application>Microsoft Macintosh PowerPoint</Application>
  <PresentationFormat>On-screen Show (16:9)</PresentationFormat>
  <Paragraphs>476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Open Sans Light</vt:lpstr>
      <vt:lpstr>Open Sans SemiBold</vt:lpstr>
      <vt:lpstr>Kalam</vt:lpstr>
      <vt:lpstr>Courier New</vt:lpstr>
      <vt:lpstr>Simple Light</vt:lpstr>
      <vt:lpstr>PowerPoint Presentation</vt:lpstr>
      <vt:lpstr>PowerPoint Presentation</vt:lpstr>
      <vt:lpstr>Who am I?</vt:lpstr>
      <vt:lpstr>PowerPoint Presentation</vt:lpstr>
      <vt:lpstr>Retrieval Augmented Generation (RAG)</vt:lpstr>
      <vt:lpstr>Retrieval Augmented Generation (RAG)</vt:lpstr>
      <vt:lpstr>Indexing / Ingestion</vt:lpstr>
      <vt:lpstr>Retrieval / Augmentation</vt:lpstr>
      <vt:lpstr>PowerPoint Presentation</vt:lpstr>
      <vt:lpstr>PowerPoint Presentation</vt:lpstr>
      <vt:lpstr>Mode A: The obvious 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not just a bigger model?</vt:lpstr>
      <vt:lpstr>PowerPoint Presentation</vt:lpstr>
      <vt:lpstr>Meet Docling</vt:lpstr>
      <vt:lpstr>PowerPoint Presentation</vt:lpstr>
      <vt:lpstr>PowerPoint Presentation</vt:lpstr>
      <vt:lpstr>Mode B: One thing changes</vt:lpstr>
      <vt:lpstr>Mode B: One thing changes</vt:lpstr>
      <vt:lpstr>PowerPoint Presentation</vt:lpstr>
      <vt:lpstr>PowerPoint Presentation</vt:lpstr>
      <vt:lpstr>PowerPoint Presentation</vt:lpstr>
      <vt:lpstr>Mode C: One more thing changes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 just a Quarkus thing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Eric Deandrea</cp:lastModifiedBy>
  <cp:revision>8</cp:revision>
  <dcterms:modified xsi:type="dcterms:W3CDTF">2026-09-29T13:48:17Z</dcterms:modified>
</cp:coreProperties>
</file>